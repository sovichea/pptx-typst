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1">
  <p:cSld name="Light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541571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1">
  <p:cSld name="Dark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431739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2" Type="http://schemas.openxmlformats.org/officeDocument/2006/relationships/theme" Target="../theme/theme1.xml"/><Relationship Id="rIdLayout2147483761" Type="http://schemas.openxmlformats.org/officeDocument/2006/relationships/slideLayout" Target="../slideLayouts/slideLayout12.xml"/><Relationship Id="rIdLayout2147483762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1" r:id="rIdLayout2147483761"/>
    <p:sldLayoutId id="2147483762" r:id="rIdLayout214748376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showMasterSp="1">
  <p:cSld>
    <p:bg>
      <p:bgPr>
        <a:solidFill>
          <a:srgbClr val="0A21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102600" y="0"/>
            <a:ext cx="4089400" cy="6858000"/>
          </a:xfrm>
          <a:prstGeom prst="rect">
            <a:avLst/>
          </a:prstGeom>
          <a:solidFill>
            <a:srgbClr val="143B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 rot="20640000">
            <a:off x="8661400" y="1600200"/>
            <a:ext cx="2971800" cy="939800"/>
          </a:xfrm>
          <a:prstGeom prst="roundRect">
            <a:avLst/>
          </a:prstGeom>
          <a:solidFill>
            <a:srgbClr val="1A5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 rot="20640000">
            <a:off x="8940800" y="2451100"/>
            <a:ext cx="2641600" cy="863600"/>
          </a:xfrm>
          <a:prstGeom prst="roundRect">
            <a:avLst/>
          </a:prstGeom>
          <a:solidFill>
            <a:srgbClr val="347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 rot="20640000">
            <a:off x="8648700" y="3390900"/>
            <a:ext cx="3111500" cy="838200"/>
          </a:xfrm>
          <a:prstGeom prst="roundRect">
            <a:avLst/>
          </a:prstGeom>
          <a:solidFill>
            <a:srgbClr val="1A5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 rot="20640000">
            <a:off x="9245600" y="4229100"/>
            <a:ext cx="2603500" cy="914400"/>
          </a:xfrm>
          <a:prstGeom prst="roundRect">
            <a:avLst/>
          </a:prstGeom>
          <a:solidFill>
            <a:srgbClr val="347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42300" y="1638300"/>
            <a:ext cx="3505200" cy="3505200"/>
          </a:xfrm>
          <a:prstGeom prst="ellipse">
            <a:avLst/>
          </a:prstGeom>
          <a:noFill/>
          <a:ln w="21590">
            <a:solidFill>
              <a:srgbClr val="9FB3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12200" y="2108200"/>
            <a:ext cx="2565400" cy="2565400"/>
          </a:xfrm>
          <a:prstGeom prst="ellipse">
            <a:avLst/>
          </a:prstGeom>
          <a:noFill/>
          <a:ln w="21590">
            <a:solidFill>
              <a:srgbClr val="69A8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69400" y="2565400"/>
            <a:ext cx="1651000" cy="1651000"/>
          </a:xfrm>
          <a:prstGeom prst="ellipse">
            <a:avLst/>
          </a:prstGeom>
          <a:noFill/>
          <a:ln w="21590">
            <a:solidFill>
              <a:srgbClr val="D6EF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67900" y="3263900"/>
            <a:ext cx="254000" cy="254000"/>
          </a:xfrm>
          <a:prstGeom prst="ellipse">
            <a:avLst/>
          </a:prstGeom>
          <a:solidFill>
            <a:srgbClr val="D6EF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766300" y="3162300"/>
            <a:ext cx="457200" cy="457200"/>
          </a:xfrm>
          <a:prstGeom prst="ellipse">
            <a:avLst/>
          </a:prstGeom>
          <a:noFill/>
          <a:ln w="25400">
            <a:solidFill>
              <a:srgbClr val="D6EF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60400" y="546100"/>
            <a:ext cx="127000" cy="127000"/>
          </a:xfrm>
          <a:prstGeom prst="roundRect">
            <a:avLst/>
          </a:prstGeom>
          <a:solidFill>
            <a:srgbClr val="D6EF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82600"/>
            <a:ext cx="43688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>
                <a:solidFill>
                  <a:srgbClr val="FCFCF7"/>
                </a:solidFill>
                <a:latin typeface="Inter"/>
              </a:rPr>
              <a:t>FIELD / FORWARD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1562100"/>
            <a:ext cx="66040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D6EF8D"/>
                </a:solidFill>
                <a:latin typeface="Inter"/>
              </a:rPr>
              <a:t>A CONNECTED AGRICULTURE DESIGN STUDY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0400" y="2273300"/>
            <a:ext cx="7391400" cy="111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6400" b="1">
                <a:solidFill>
                  <a:srgbClr val="FCFCF7"/>
                </a:solidFill>
                <a:latin typeface="Inter Display"/>
              </a:rPr>
              <a:t>The next field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0400" y="3289300"/>
            <a:ext cx="723900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6400" b="1">
                <a:solidFill>
                  <a:srgbClr val="FCFCF7"/>
                </a:solidFill>
                <a:latin typeface="Inter Display"/>
              </a:rPr>
              <a:t>is connected.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8500" y="4787900"/>
            <a:ext cx="762000" cy="63500"/>
          </a:xfrm>
          <a:prstGeom prst="roundRect">
            <a:avLst/>
          </a:prstGeom>
          <a:solidFill>
            <a:srgbClr val="F0A3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3100" y="5168900"/>
            <a:ext cx="66040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0">
                <a:solidFill>
                  <a:srgbClr val="E9EDE1"/>
                </a:solidFill>
                <a:latin typeface="Inter"/>
              </a:rPr>
              <a:t>Where sensors, software and robotics work as one useful system.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3100" y="6426200"/>
            <a:ext cx="6731000" cy="279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9FB3A7"/>
                </a:solidFill>
                <a:latin typeface="Inter"/>
              </a:rPr>
              <a:t>CONCEPT PRESENTATION   /   OCTOBER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91800" y="6426200"/>
            <a:ext cx="1143000" cy="279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D6EF8D"/>
                </a:solidFill>
                <a:latin typeface="Inter"/>
              </a:rPr>
              <a:t>01 / 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showMasterSp="1">
  <p:cSld>
    <p:bg>
      <p:bgPr>
        <a:solidFill>
          <a:srgbClr val="F7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35000" y="508000"/>
            <a:ext cx="127000" cy="127000"/>
          </a:xfrm>
          <a:prstGeom prst="roundRect">
            <a:avLst/>
          </a:prstGeom>
          <a:solidFill>
            <a:srgbClr val="347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76300" y="444500"/>
            <a:ext cx="42545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0A211D"/>
                </a:solidFill>
                <a:latin typeface="Inter"/>
              </a:rPr>
              <a:t>FIELD / FORWARD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10800" y="495300"/>
            <a:ext cx="13970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62766C"/>
                </a:solidFill>
                <a:latin typeface="Inter"/>
              </a:rPr>
              <a:t>02  / 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0400" y="1079500"/>
            <a:ext cx="83820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347A60"/>
                </a:solidFill>
                <a:latin typeface="Inter"/>
              </a:rPr>
              <a:t>01  /  THE OPPORTUNITY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400" y="1612900"/>
            <a:ext cx="11303000" cy="800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300" b="1">
                <a:solidFill>
                  <a:srgbClr val="0A211D"/>
                </a:solidFill>
                <a:latin typeface="Inter Display"/>
              </a:rPr>
              <a:t>Agriculture is a systems problem.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590800"/>
            <a:ext cx="10401300" cy="482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0">
                <a:solidFill>
                  <a:srgbClr val="62766C"/>
                </a:solidFill>
                <a:latin typeface="Inter"/>
              </a:rPr>
              <a:t>Better outcomes begin when information and action connect.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0400" y="3733800"/>
            <a:ext cx="3403600" cy="2082800"/>
          </a:xfrm>
          <a:prstGeom prst="roundRect">
            <a:avLst/>
          </a:prstGeom>
          <a:solidFill>
            <a:srgbClr val="FCFCF7"/>
          </a:solidFill>
          <a:ln w="12700">
            <a:solidFill>
              <a:srgbClr val="CCD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89000" y="3962400"/>
            <a:ext cx="571500" cy="63500"/>
          </a:xfrm>
          <a:prstGeom prst="roundRect">
            <a:avLst/>
          </a:prstGeom>
          <a:solidFill>
            <a:srgbClr val="347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9000" y="4191000"/>
            <a:ext cx="952500" cy="711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500" b="1">
                <a:solidFill>
                  <a:srgbClr val="347A60"/>
                </a:solidFill>
                <a:latin typeface="Inter Display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9600" y="4292600"/>
            <a:ext cx="20447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>
                <a:solidFill>
                  <a:srgbClr val="0A211D"/>
                </a:solidFill>
                <a:latin typeface="Inter"/>
              </a:rPr>
              <a:t>SENSE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1700" y="4991100"/>
            <a:ext cx="3022600" cy="723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00" b="0">
                <a:solidFill>
                  <a:srgbClr val="62766C"/>
                </a:solidFill>
                <a:latin typeface="Inter"/>
              </a:rPr>
              <a:t>Make conditions visible.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94200" y="3733800"/>
            <a:ext cx="3403600" cy="2082800"/>
          </a:xfrm>
          <a:prstGeom prst="roundRect">
            <a:avLst/>
          </a:prstGeom>
          <a:solidFill>
            <a:srgbClr val="FCFCF7"/>
          </a:solidFill>
          <a:ln w="12700">
            <a:solidFill>
              <a:srgbClr val="CCD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22800" y="3962400"/>
            <a:ext cx="571500" cy="63500"/>
          </a:xfrm>
          <a:prstGeom prst="roundRect">
            <a:avLst/>
          </a:prstGeom>
          <a:solidFill>
            <a:srgbClr val="1A5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22800" y="4191000"/>
            <a:ext cx="952500" cy="711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500" b="1">
                <a:solidFill>
                  <a:srgbClr val="1A5444"/>
                </a:solidFill>
                <a:latin typeface="Inter Display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13400" y="4292600"/>
            <a:ext cx="20447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>
                <a:solidFill>
                  <a:srgbClr val="0A211D"/>
                </a:solidFill>
                <a:latin typeface="Inter"/>
              </a:rPr>
              <a:t>DECIDE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35500" y="4991100"/>
            <a:ext cx="3022600" cy="723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00" b="0">
                <a:solidFill>
                  <a:srgbClr val="62766C"/>
                </a:solidFill>
                <a:latin typeface="Inter"/>
              </a:rPr>
              <a:t>Turn signals into priorities.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28000" y="3733800"/>
            <a:ext cx="3403600" cy="2082800"/>
          </a:xfrm>
          <a:prstGeom prst="roundRect">
            <a:avLst/>
          </a:prstGeom>
          <a:solidFill>
            <a:srgbClr val="FCFCF7"/>
          </a:solidFill>
          <a:ln w="12700">
            <a:solidFill>
              <a:srgbClr val="CCD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356600" y="3962400"/>
            <a:ext cx="571500" cy="63500"/>
          </a:xfrm>
          <a:prstGeom prst="roundRect">
            <a:avLst/>
          </a:prstGeom>
          <a:solidFill>
            <a:srgbClr val="F0A3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56600" y="4191000"/>
            <a:ext cx="952500" cy="711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500" b="1">
                <a:solidFill>
                  <a:srgbClr val="F0A36D"/>
                </a:solidFill>
                <a:latin typeface="Inter Display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47200" y="4292600"/>
            <a:ext cx="20447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>
                <a:solidFill>
                  <a:srgbClr val="0A211D"/>
                </a:solidFill>
                <a:latin typeface="Inter"/>
              </a:rPr>
              <a:t>RESPOND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9300" y="4991100"/>
            <a:ext cx="3022600" cy="723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00" b="0">
                <a:solidFill>
                  <a:srgbClr val="62766C"/>
                </a:solidFill>
                <a:latin typeface="Inter"/>
              </a:rPr>
              <a:t>Act where it matters.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60400" y="6413500"/>
            <a:ext cx="10871200" cy="0"/>
          </a:xfrm>
          <a:prstGeom prst="line">
            <a:avLst/>
          </a:prstGeom>
          <a:ln w="12700">
            <a:solidFill>
              <a:srgbClr val="CCD7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60400" y="6477000"/>
            <a:ext cx="6350000" cy="241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62766C"/>
                </a:solidFill>
                <a:latin typeface="Inter"/>
              </a:rPr>
              <a:t>DESIGN STUDY  /  CONNECTED AGRICULTURE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477000"/>
            <a:ext cx="10541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62766C"/>
                </a:solidFill>
                <a:latin typeface="Inter"/>
              </a:rPr>
              <a:t>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showMasterSp="1">
  <p:cSld>
    <p:bg>
      <p:bgPr>
        <a:solidFill>
          <a:srgbClr val="0A21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35000" y="508000"/>
            <a:ext cx="127000" cy="127000"/>
          </a:xfrm>
          <a:prstGeom prst="roundRect">
            <a:avLst/>
          </a:prstGeom>
          <a:solidFill>
            <a:srgbClr val="D6EF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76300" y="444500"/>
            <a:ext cx="42545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FCFCF7"/>
                </a:solidFill>
                <a:latin typeface="Inter"/>
              </a:rPr>
              <a:t>FIELD / FORWARD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10800" y="495300"/>
            <a:ext cx="13970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9FB3A7"/>
                </a:solidFill>
                <a:latin typeface="Inter"/>
              </a:rPr>
              <a:t>03  / 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0400" y="1079500"/>
            <a:ext cx="83820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D6EF8D"/>
                </a:solidFill>
                <a:latin typeface="Inter"/>
              </a:rPr>
              <a:t>02  /  THE INTERFACE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400" y="1739900"/>
            <a:ext cx="5969000" cy="749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5200" b="1">
                <a:solidFill>
                  <a:srgbClr val="FCFCF7"/>
                </a:solidFill>
                <a:latin typeface="Inter Display"/>
              </a:rPr>
              <a:t>See the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400" y="2501900"/>
            <a:ext cx="6096000" cy="939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6000" b="1">
                <a:solidFill>
                  <a:srgbClr val="D6EF8D"/>
                </a:solidFill>
                <a:latin typeface="Inter Display"/>
              </a:rPr>
              <a:t>invisible.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937000"/>
            <a:ext cx="5562600" cy="1320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0">
                <a:solidFill>
                  <a:srgbClr val="E9EDE1"/>
                </a:solidFill>
                <a:latin typeface="Inter"/>
              </a:rPr>
              <a:t>Water. Soil. Movement. The field tells a story when its signals are connected.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80200" y="1143000"/>
            <a:ext cx="4889500" cy="4826000"/>
          </a:xfrm>
          <a:prstGeom prst="roundRect">
            <a:avLst/>
          </a:prstGeom>
          <a:solidFill>
            <a:srgbClr val="143B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959600" y="1409700"/>
            <a:ext cx="4318000" cy="4267200"/>
          </a:xfrm>
          <a:prstGeom prst="roundRect">
            <a:avLst/>
          </a:prstGeom>
          <a:solidFill>
            <a:srgbClr val="1A5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239000" y="1625600"/>
            <a:ext cx="736600" cy="3835400"/>
          </a:xfrm>
          <a:prstGeom prst="roundRect">
            <a:avLst/>
          </a:prstGeom>
          <a:solidFill>
            <a:srgbClr val="347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27900" y="1917700"/>
            <a:ext cx="558800" cy="25400"/>
          </a:xfrm>
          <a:prstGeom prst="rect">
            <a:avLst/>
          </a:prstGeom>
          <a:solidFill>
            <a:srgbClr val="BDD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27900" y="2641600"/>
            <a:ext cx="558800" cy="25400"/>
          </a:xfrm>
          <a:prstGeom prst="rect">
            <a:avLst/>
          </a:prstGeom>
          <a:solidFill>
            <a:srgbClr val="BDD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27900" y="3365500"/>
            <a:ext cx="558800" cy="25400"/>
          </a:xfrm>
          <a:prstGeom prst="rect">
            <a:avLst/>
          </a:prstGeom>
          <a:solidFill>
            <a:srgbClr val="BDD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27900" y="4089400"/>
            <a:ext cx="558800" cy="25400"/>
          </a:xfrm>
          <a:prstGeom prst="rect">
            <a:avLst/>
          </a:prstGeom>
          <a:solidFill>
            <a:srgbClr val="BDD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27900" y="4813300"/>
            <a:ext cx="558800" cy="25400"/>
          </a:xfrm>
          <a:prstGeom prst="rect">
            <a:avLst/>
          </a:prstGeom>
          <a:solidFill>
            <a:srgbClr val="BDD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013700" y="1625600"/>
            <a:ext cx="660400" cy="3835400"/>
          </a:xfrm>
          <a:prstGeom prst="roundRect">
            <a:avLst/>
          </a:prstGeom>
          <a:solidFill>
            <a:srgbClr val="69A8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02600" y="1917700"/>
            <a:ext cx="482600" cy="25400"/>
          </a:xfrm>
          <a:prstGeom prst="rect">
            <a:avLst/>
          </a:prstGeom>
          <a:solidFill>
            <a:srgbClr val="BDD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02600" y="2641600"/>
            <a:ext cx="482600" cy="25400"/>
          </a:xfrm>
          <a:prstGeom prst="rect">
            <a:avLst/>
          </a:prstGeom>
          <a:solidFill>
            <a:srgbClr val="BDD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02600" y="3365500"/>
            <a:ext cx="482600" cy="25400"/>
          </a:xfrm>
          <a:prstGeom prst="rect">
            <a:avLst/>
          </a:prstGeom>
          <a:solidFill>
            <a:srgbClr val="BDD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02600" y="4089400"/>
            <a:ext cx="482600" cy="25400"/>
          </a:xfrm>
          <a:prstGeom prst="rect">
            <a:avLst/>
          </a:prstGeom>
          <a:solidFill>
            <a:srgbClr val="BDD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02600" y="4813300"/>
            <a:ext cx="482600" cy="25400"/>
          </a:xfrm>
          <a:prstGeom prst="rect">
            <a:avLst/>
          </a:prstGeom>
          <a:solidFill>
            <a:srgbClr val="BDD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788400" y="1625600"/>
            <a:ext cx="812800" cy="3835400"/>
          </a:xfrm>
          <a:prstGeom prst="roundRect">
            <a:avLst/>
          </a:prstGeom>
          <a:solidFill>
            <a:srgbClr val="244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877300" y="1917700"/>
            <a:ext cx="635000" cy="25400"/>
          </a:xfrm>
          <a:prstGeom prst="rect">
            <a:avLst/>
          </a:prstGeom>
          <a:solidFill>
            <a:srgbClr val="BDD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877300" y="2641600"/>
            <a:ext cx="635000" cy="25400"/>
          </a:xfrm>
          <a:prstGeom prst="rect">
            <a:avLst/>
          </a:prstGeom>
          <a:solidFill>
            <a:srgbClr val="BDD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77300" y="3365500"/>
            <a:ext cx="635000" cy="25400"/>
          </a:xfrm>
          <a:prstGeom prst="rect">
            <a:avLst/>
          </a:prstGeom>
          <a:solidFill>
            <a:srgbClr val="BDD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877300" y="4089400"/>
            <a:ext cx="635000" cy="25400"/>
          </a:xfrm>
          <a:prstGeom prst="rect">
            <a:avLst/>
          </a:prstGeom>
          <a:solidFill>
            <a:srgbClr val="BDD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877300" y="4813300"/>
            <a:ext cx="635000" cy="25400"/>
          </a:xfrm>
          <a:prstGeom prst="rect">
            <a:avLst/>
          </a:prstGeom>
          <a:solidFill>
            <a:srgbClr val="BDD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563100" y="1625600"/>
            <a:ext cx="635000" cy="3835400"/>
          </a:xfrm>
          <a:prstGeom prst="roundRect">
            <a:avLst/>
          </a:prstGeom>
          <a:solidFill>
            <a:srgbClr val="347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652000" y="1917700"/>
            <a:ext cx="457200" cy="25400"/>
          </a:xfrm>
          <a:prstGeom prst="rect">
            <a:avLst/>
          </a:prstGeom>
          <a:solidFill>
            <a:srgbClr val="BDD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652000" y="2641600"/>
            <a:ext cx="457200" cy="25400"/>
          </a:xfrm>
          <a:prstGeom prst="rect">
            <a:avLst/>
          </a:prstGeom>
          <a:solidFill>
            <a:srgbClr val="BDD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652000" y="3365500"/>
            <a:ext cx="457200" cy="25400"/>
          </a:xfrm>
          <a:prstGeom prst="rect">
            <a:avLst/>
          </a:prstGeom>
          <a:solidFill>
            <a:srgbClr val="BDD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652000" y="4089400"/>
            <a:ext cx="457200" cy="25400"/>
          </a:xfrm>
          <a:prstGeom prst="rect">
            <a:avLst/>
          </a:prstGeom>
          <a:solidFill>
            <a:srgbClr val="BDD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652000" y="4813300"/>
            <a:ext cx="457200" cy="25400"/>
          </a:xfrm>
          <a:prstGeom prst="rect">
            <a:avLst/>
          </a:prstGeom>
          <a:solidFill>
            <a:srgbClr val="BDD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0337800" y="1625600"/>
            <a:ext cx="584200" cy="3835400"/>
          </a:xfrm>
          <a:prstGeom prst="roundRect">
            <a:avLst/>
          </a:prstGeom>
          <a:solidFill>
            <a:srgbClr val="69A8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426700" y="1917700"/>
            <a:ext cx="406400" cy="25400"/>
          </a:xfrm>
          <a:prstGeom prst="rect">
            <a:avLst/>
          </a:prstGeom>
          <a:solidFill>
            <a:srgbClr val="BDD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426700" y="2641600"/>
            <a:ext cx="406400" cy="25400"/>
          </a:xfrm>
          <a:prstGeom prst="rect">
            <a:avLst/>
          </a:prstGeom>
          <a:solidFill>
            <a:srgbClr val="BDD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426700" y="3365500"/>
            <a:ext cx="406400" cy="25400"/>
          </a:xfrm>
          <a:prstGeom prst="rect">
            <a:avLst/>
          </a:prstGeom>
          <a:solidFill>
            <a:srgbClr val="BDD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0426700" y="4089400"/>
            <a:ext cx="406400" cy="25400"/>
          </a:xfrm>
          <a:prstGeom prst="rect">
            <a:avLst/>
          </a:prstGeom>
          <a:solidFill>
            <a:srgbClr val="BDD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426700" y="4813300"/>
            <a:ext cx="406400" cy="25400"/>
          </a:xfrm>
          <a:prstGeom prst="rect">
            <a:avLst/>
          </a:prstGeom>
          <a:solidFill>
            <a:srgbClr val="BDD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7899400" y="2413000"/>
            <a:ext cx="558800" cy="558800"/>
          </a:xfrm>
          <a:prstGeom prst="ellipse">
            <a:avLst/>
          </a:prstGeom>
          <a:noFill/>
          <a:ln w="25400">
            <a:solidFill>
              <a:srgbClr val="D6EF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8115300" y="2628900"/>
            <a:ext cx="127000" cy="127000"/>
          </a:xfrm>
          <a:prstGeom prst="ellipse">
            <a:avLst/>
          </a:prstGeom>
          <a:solidFill>
            <a:srgbClr val="D6EF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9702800" y="3911600"/>
            <a:ext cx="558800" cy="558800"/>
          </a:xfrm>
          <a:prstGeom prst="ellipse">
            <a:avLst/>
          </a:prstGeom>
          <a:noFill/>
          <a:ln w="25400">
            <a:solidFill>
              <a:srgbClr val="D6EF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9918700" y="4127500"/>
            <a:ext cx="127000" cy="127000"/>
          </a:xfrm>
          <a:prstGeom prst="ellipse">
            <a:avLst/>
          </a:prstGeom>
          <a:solidFill>
            <a:srgbClr val="D6EF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9004300" y="1816100"/>
            <a:ext cx="558800" cy="558800"/>
          </a:xfrm>
          <a:prstGeom prst="ellipse">
            <a:avLst/>
          </a:prstGeom>
          <a:noFill/>
          <a:ln w="25400">
            <a:solidFill>
              <a:srgbClr val="D6EF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9220200" y="2032000"/>
            <a:ext cx="127000" cy="127000"/>
          </a:xfrm>
          <a:prstGeom prst="ellipse">
            <a:avLst/>
          </a:prstGeom>
          <a:solidFill>
            <a:srgbClr val="D6EF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6807200" y="4749800"/>
            <a:ext cx="2971800" cy="825500"/>
          </a:xfrm>
          <a:prstGeom prst="roundRect">
            <a:avLst/>
          </a:prstGeom>
          <a:solidFill>
            <a:srgbClr val="F7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972300" y="4940300"/>
            <a:ext cx="2717800" cy="292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347A60"/>
                </a:solidFill>
                <a:latin typeface="Inter"/>
              </a:rPr>
              <a:t>FIELD VISIBILITY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972300" y="5232400"/>
            <a:ext cx="26924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0A211D"/>
                </a:solidFill>
                <a:latin typeface="Inter"/>
              </a:rPr>
              <a:t>Concept illustration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660400" y="6413500"/>
            <a:ext cx="10871200" cy="0"/>
          </a:xfrm>
          <a:prstGeom prst="line">
            <a:avLst/>
          </a:prstGeom>
          <a:ln w="12700">
            <a:solidFill>
              <a:srgbClr val="143B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660400" y="6477000"/>
            <a:ext cx="6350000" cy="241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9FB3A7"/>
                </a:solidFill>
                <a:latin typeface="Inter"/>
              </a:rPr>
              <a:t>DESIGN STUDY  /  CONNECTED AGRICULTURE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515600" y="6477000"/>
            <a:ext cx="10541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9FB3A7"/>
                </a:solidFill>
                <a:latin typeface="Inter"/>
              </a:rPr>
              <a:t>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showMasterSp="1">
  <p:cSld>
    <p:bg>
      <p:bgPr>
        <a:solidFill>
          <a:srgbClr val="F7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35000" y="508000"/>
            <a:ext cx="127000" cy="127000"/>
          </a:xfrm>
          <a:prstGeom prst="roundRect">
            <a:avLst/>
          </a:prstGeom>
          <a:solidFill>
            <a:srgbClr val="347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76300" y="444500"/>
            <a:ext cx="42545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0A211D"/>
                </a:solidFill>
                <a:latin typeface="Inter"/>
              </a:rPr>
              <a:t>FIELD / FORWARD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10800" y="495300"/>
            <a:ext cx="13970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62766C"/>
                </a:solidFill>
                <a:latin typeface="Inter"/>
              </a:rPr>
              <a:t>04  / 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0400" y="1079500"/>
            <a:ext cx="83820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347A60"/>
                </a:solidFill>
                <a:latin typeface="Inter"/>
              </a:rPr>
              <a:t>03  /  HOW IT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400" y="1600200"/>
            <a:ext cx="10731500" cy="838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300" b="1">
                <a:solidFill>
                  <a:srgbClr val="0A211D"/>
                </a:solidFill>
                <a:latin typeface="Inter Display"/>
              </a:rPr>
              <a:t>From observation to action.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3100" y="2540000"/>
            <a:ext cx="10833100" cy="482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0">
                <a:solidFill>
                  <a:srgbClr val="62766C"/>
                </a:solidFill>
                <a:latin typeface="Inter"/>
              </a:rPr>
              <a:t>Three connected layers. One clearer workflow.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0400" y="3530600"/>
            <a:ext cx="3302000" cy="2324100"/>
          </a:xfrm>
          <a:prstGeom prst="roundRect">
            <a:avLst/>
          </a:prstGeom>
          <a:solidFill>
            <a:srgbClr val="FCFCF7"/>
          </a:solidFill>
          <a:ln w="12700">
            <a:solidFill>
              <a:srgbClr val="CCD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50900" y="3733800"/>
            <a:ext cx="609600" cy="609600"/>
          </a:xfrm>
          <a:prstGeom prst="roundRect">
            <a:avLst/>
          </a:prstGeom>
          <a:solidFill>
            <a:srgbClr val="347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900" y="3733800"/>
            <a:ext cx="609600" cy="6096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2400" b="1">
                <a:solidFill>
                  <a:srgbClr val="FCFCF7"/>
                </a:solidFill>
                <a:latin typeface="Inter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3600" y="4572000"/>
            <a:ext cx="3111500" cy="482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500" b="1">
                <a:solidFill>
                  <a:srgbClr val="0A211D"/>
                </a:solidFill>
                <a:latin typeface="Inter"/>
              </a:rPr>
              <a:t>OBSERVE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3600" y="5067300"/>
            <a:ext cx="2921000" cy="66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0">
                <a:solidFill>
                  <a:srgbClr val="62766C"/>
                </a:solidFill>
                <a:latin typeface="Inter"/>
              </a:rPr>
              <a:t>Sensors and devices capture field conditions.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45000" y="3530600"/>
            <a:ext cx="3302000" cy="2324100"/>
          </a:xfrm>
          <a:prstGeom prst="roundRect">
            <a:avLst/>
          </a:prstGeom>
          <a:solidFill>
            <a:srgbClr val="FCFCF7"/>
          </a:solidFill>
          <a:ln w="12700">
            <a:solidFill>
              <a:srgbClr val="CCD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35500" y="3733800"/>
            <a:ext cx="609600" cy="609600"/>
          </a:xfrm>
          <a:prstGeom prst="roundRect">
            <a:avLst/>
          </a:prstGeom>
          <a:solidFill>
            <a:srgbClr val="1A5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35500" y="3733800"/>
            <a:ext cx="609600" cy="6096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2400" b="1">
                <a:solidFill>
                  <a:srgbClr val="FCFCF7"/>
                </a:solidFill>
                <a:latin typeface="Inter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8200" y="4572000"/>
            <a:ext cx="3111500" cy="482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500" b="1">
                <a:solidFill>
                  <a:srgbClr val="0A211D"/>
                </a:solidFill>
                <a:latin typeface="Inter"/>
              </a:rPr>
              <a:t>INTERPRET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48200" y="5067300"/>
            <a:ext cx="2921000" cy="66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0">
                <a:solidFill>
                  <a:srgbClr val="62766C"/>
                </a:solidFill>
                <a:latin typeface="Inter"/>
              </a:rPr>
              <a:t>Software turns raw readings into decisions.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3530600"/>
            <a:ext cx="3302000" cy="2324100"/>
          </a:xfrm>
          <a:prstGeom prst="roundRect">
            <a:avLst/>
          </a:prstGeom>
          <a:solidFill>
            <a:srgbClr val="FCFCF7"/>
          </a:solidFill>
          <a:ln w="12700">
            <a:solidFill>
              <a:srgbClr val="CCD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420100" y="3733800"/>
            <a:ext cx="609600" cy="609600"/>
          </a:xfrm>
          <a:prstGeom prst="roundRect">
            <a:avLst/>
          </a:prstGeom>
          <a:solidFill>
            <a:srgbClr val="F0A3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20100" y="3733800"/>
            <a:ext cx="609600" cy="6096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2400" b="1">
                <a:solidFill>
                  <a:srgbClr val="FCFCF7"/>
                </a:solidFill>
                <a:latin typeface="Inter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32800" y="4572000"/>
            <a:ext cx="3111500" cy="482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500" b="1">
                <a:solidFill>
                  <a:srgbClr val="0A211D"/>
                </a:solidFill>
                <a:latin typeface="Inter"/>
              </a:rPr>
              <a:t>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32800" y="5067300"/>
            <a:ext cx="2921000" cy="66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0">
                <a:solidFill>
                  <a:srgbClr val="62766C"/>
                </a:solidFill>
                <a:latin typeface="Inter"/>
              </a:rPr>
              <a:t>People and machines complete the task.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013200" y="4711700"/>
            <a:ext cx="355600" cy="0"/>
          </a:xfrm>
          <a:prstGeom prst="line">
            <a:avLst/>
          </a:prstGeom>
          <a:ln w="38100">
            <a:solidFill>
              <a:srgbClr val="69A8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4229100" y="4648200"/>
            <a:ext cx="127000" cy="127000"/>
          </a:xfrm>
          <a:prstGeom prst="ellipse">
            <a:avLst/>
          </a:prstGeom>
          <a:solidFill>
            <a:srgbClr val="69A8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>
            <a:off x="7797800" y="4711700"/>
            <a:ext cx="355600" cy="0"/>
          </a:xfrm>
          <a:prstGeom prst="line">
            <a:avLst/>
          </a:prstGeom>
          <a:ln w="38100">
            <a:solidFill>
              <a:srgbClr val="69A8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8013700" y="4648200"/>
            <a:ext cx="127000" cy="127000"/>
          </a:xfrm>
          <a:prstGeom prst="ellipse">
            <a:avLst/>
          </a:prstGeom>
          <a:solidFill>
            <a:srgbClr val="69A8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660400" y="6413500"/>
            <a:ext cx="10871200" cy="0"/>
          </a:xfrm>
          <a:prstGeom prst="line">
            <a:avLst/>
          </a:prstGeom>
          <a:ln w="12700">
            <a:solidFill>
              <a:srgbClr val="CCD7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60400" y="6477000"/>
            <a:ext cx="6350000" cy="241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62766C"/>
                </a:solidFill>
                <a:latin typeface="Inter"/>
              </a:rPr>
              <a:t>DESIGN STUDY  /  CONNECTED AGRICULTURE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6477000"/>
            <a:ext cx="10541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62766C"/>
                </a:solidFill>
                <a:latin typeface="Inter"/>
              </a:rPr>
              <a:t>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showMasterSp="1">
  <p:cSld>
    <p:bg>
      <p:bgPr>
        <a:solidFill>
          <a:srgbClr val="E9ED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35000" y="508000"/>
            <a:ext cx="127000" cy="127000"/>
          </a:xfrm>
          <a:prstGeom prst="roundRect">
            <a:avLst/>
          </a:prstGeom>
          <a:solidFill>
            <a:srgbClr val="347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76300" y="444500"/>
            <a:ext cx="42545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0A211D"/>
                </a:solidFill>
                <a:latin typeface="Inter"/>
              </a:rPr>
              <a:t>FIELD / FORWARD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10800" y="495300"/>
            <a:ext cx="13970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62766C"/>
                </a:solidFill>
                <a:latin typeface="Inter"/>
              </a:rPr>
              <a:t>05  / 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0400" y="1079500"/>
            <a:ext cx="83820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347A60"/>
                </a:solidFill>
                <a:latin typeface="Inter"/>
              </a:rPr>
              <a:t>04  /  OPERATIONAL CLARITY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400" y="1854200"/>
            <a:ext cx="4343400" cy="825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200" b="1">
                <a:solidFill>
                  <a:srgbClr val="0A211D"/>
                </a:solidFill>
                <a:latin typeface="Inter Display"/>
              </a:rPr>
              <a:t>A control room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400" y="2590800"/>
            <a:ext cx="4445000" cy="825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200" b="1">
                <a:solidFill>
                  <a:srgbClr val="0A211D"/>
                </a:solidFill>
                <a:latin typeface="Inter Display"/>
              </a:rPr>
              <a:t>for every field.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848100"/>
            <a:ext cx="635000" cy="63500"/>
          </a:xfrm>
          <a:prstGeom prst="roundRect">
            <a:avLst/>
          </a:prstGeom>
          <a:solidFill>
            <a:srgbClr val="F0A3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0400" y="4292600"/>
            <a:ext cx="4127500" cy="1384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0">
                <a:solidFill>
                  <a:srgbClr val="62766C"/>
                </a:solidFill>
                <a:latin typeface="Inter"/>
              </a:rPr>
              <a:t>A single place to see priorities, organize work and keep humans in control.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8600" y="1422400"/>
            <a:ext cx="6223000" cy="4559300"/>
          </a:xfrm>
          <a:prstGeom prst="roundRect">
            <a:avLst/>
          </a:prstGeom>
          <a:solidFill>
            <a:srgbClr val="0A21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511800" y="1625600"/>
            <a:ext cx="5816600" cy="546100"/>
          </a:xfrm>
          <a:prstGeom prst="roundRect">
            <a:avLst/>
          </a:prstGeom>
          <a:solidFill>
            <a:srgbClr val="143B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740400" y="1841500"/>
            <a:ext cx="127000" cy="127000"/>
          </a:xfrm>
          <a:prstGeom prst="ellipse">
            <a:avLst/>
          </a:prstGeom>
          <a:solidFill>
            <a:srgbClr val="D6EF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19800" y="1739900"/>
            <a:ext cx="3810000" cy="317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>
                <a:solidFill>
                  <a:srgbClr val="FCFCF7"/>
                </a:solidFill>
                <a:latin typeface="Inter"/>
              </a:rPr>
              <a:t>FIELD OPERATIONS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23500" y="1676400"/>
            <a:ext cx="965200" cy="4318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200" b="1">
                <a:solidFill>
                  <a:srgbClr val="D6EF8D"/>
                </a:solidFill>
                <a:latin typeface="Inter"/>
              </a:rPr>
              <a:t>LIVE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549900" y="2362200"/>
            <a:ext cx="3581400" cy="3213100"/>
          </a:xfrm>
          <a:prstGeom prst="roundRect">
            <a:avLst/>
          </a:prstGeom>
          <a:solidFill>
            <a:srgbClr val="143B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296400" y="2362200"/>
            <a:ext cx="1993900" cy="1485900"/>
          </a:xfrm>
          <a:prstGeom prst="roundRect">
            <a:avLst/>
          </a:prstGeom>
          <a:solidFill>
            <a:srgbClr val="1A5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296400" y="4000500"/>
            <a:ext cx="1993900" cy="1574800"/>
          </a:xfrm>
          <a:prstGeom prst="roundRect">
            <a:avLst/>
          </a:prstGeom>
          <a:solidFill>
            <a:srgbClr val="1A5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15000" y="2540000"/>
            <a:ext cx="32004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>
                <a:solidFill>
                  <a:srgbClr val="E9EDE1"/>
                </a:solidFill>
                <a:latin typeface="Inter"/>
              </a:rPr>
              <a:t>Soil moisture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99600" y="2565400"/>
            <a:ext cx="16891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9FB3A7"/>
                </a:solidFill>
                <a:latin typeface="Inter"/>
              </a:rPr>
              <a:t>IRRIGATION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99600" y="2908300"/>
            <a:ext cx="1701800" cy="393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>
                <a:solidFill>
                  <a:srgbClr val="FCFCF7"/>
                </a:solidFill>
                <a:latin typeface="Inter"/>
              </a:rPr>
              <a:t>Review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99600" y="4191000"/>
            <a:ext cx="1651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9FB3A7"/>
                </a:solidFill>
                <a:latin typeface="Inter"/>
              </a:rPr>
              <a:t>GREENHOUSE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99600" y="4546600"/>
            <a:ext cx="1651000" cy="393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>
                <a:solidFill>
                  <a:srgbClr val="D6EF8D"/>
                </a:solidFill>
                <a:latin typeface="Inter"/>
              </a:rPr>
              <a:t>Stable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727700" y="4787900"/>
            <a:ext cx="152400" cy="609600"/>
          </a:xfrm>
          <a:prstGeom prst="roundRect">
            <a:avLst/>
          </a:prstGeom>
          <a:solidFill>
            <a:srgbClr val="69A8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981700" y="4559300"/>
            <a:ext cx="152400" cy="838200"/>
          </a:xfrm>
          <a:prstGeom prst="roundRect">
            <a:avLst/>
          </a:prstGeom>
          <a:solidFill>
            <a:srgbClr val="69A8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235700" y="4635500"/>
            <a:ext cx="152400" cy="762000"/>
          </a:xfrm>
          <a:prstGeom prst="roundRect">
            <a:avLst/>
          </a:prstGeom>
          <a:solidFill>
            <a:srgbClr val="69A8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489700" y="4203700"/>
            <a:ext cx="152400" cy="1193800"/>
          </a:xfrm>
          <a:prstGeom prst="roundRect">
            <a:avLst/>
          </a:prstGeom>
          <a:solidFill>
            <a:srgbClr val="69A8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743700" y="4419600"/>
            <a:ext cx="152400" cy="977900"/>
          </a:xfrm>
          <a:prstGeom prst="roundRect">
            <a:avLst/>
          </a:prstGeom>
          <a:solidFill>
            <a:srgbClr val="69A8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997700" y="4114800"/>
            <a:ext cx="152400" cy="1282700"/>
          </a:xfrm>
          <a:prstGeom prst="roundRect">
            <a:avLst/>
          </a:prstGeom>
          <a:solidFill>
            <a:srgbClr val="69A8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251700" y="3949700"/>
            <a:ext cx="152400" cy="1447800"/>
          </a:xfrm>
          <a:prstGeom prst="roundRect">
            <a:avLst/>
          </a:prstGeom>
          <a:solidFill>
            <a:srgbClr val="69A8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505700" y="4279900"/>
            <a:ext cx="152400" cy="1117600"/>
          </a:xfrm>
          <a:prstGeom prst="roundRect">
            <a:avLst/>
          </a:prstGeom>
          <a:solidFill>
            <a:srgbClr val="69A8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759700" y="3848100"/>
            <a:ext cx="152400" cy="1549400"/>
          </a:xfrm>
          <a:prstGeom prst="roundRect">
            <a:avLst/>
          </a:prstGeom>
          <a:solidFill>
            <a:srgbClr val="D6EF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013700" y="3784600"/>
            <a:ext cx="152400" cy="1612900"/>
          </a:xfrm>
          <a:prstGeom prst="roundRect">
            <a:avLst/>
          </a:prstGeom>
          <a:solidFill>
            <a:srgbClr val="D6EF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267700" y="4076700"/>
            <a:ext cx="152400" cy="1320800"/>
          </a:xfrm>
          <a:prstGeom prst="roundRect">
            <a:avLst/>
          </a:prstGeom>
          <a:solidFill>
            <a:srgbClr val="D6EF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521700" y="3657600"/>
            <a:ext cx="152400" cy="1739900"/>
          </a:xfrm>
          <a:prstGeom prst="roundRect">
            <a:avLst/>
          </a:prstGeom>
          <a:solidFill>
            <a:srgbClr val="D6EF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727700" y="5664200"/>
            <a:ext cx="3238500" cy="241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9FB3A7"/>
                </a:solidFill>
                <a:latin typeface="Inter"/>
              </a:rPr>
              <a:t>ILLUSTRATIVE INTERFACE  /  NOT LIVE DATA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660400" y="6413500"/>
            <a:ext cx="10871200" cy="0"/>
          </a:xfrm>
          <a:prstGeom prst="line">
            <a:avLst/>
          </a:prstGeom>
          <a:ln w="12700">
            <a:solidFill>
              <a:srgbClr val="CCD7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660400" y="6477000"/>
            <a:ext cx="6350000" cy="241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62766C"/>
                </a:solidFill>
                <a:latin typeface="Inter"/>
              </a:rPr>
              <a:t>DESIGN STUDY  /  CONNECTED AGRICULTURE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0" y="6477000"/>
            <a:ext cx="10541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62766C"/>
                </a:solidFill>
                <a:latin typeface="Inter"/>
              </a:rPr>
              <a:t>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showMasterSp="1">
  <p:cSld>
    <p:bg>
      <p:bgPr>
        <a:solidFill>
          <a:srgbClr val="0A21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35000" y="508000"/>
            <a:ext cx="127000" cy="127000"/>
          </a:xfrm>
          <a:prstGeom prst="roundRect">
            <a:avLst/>
          </a:prstGeom>
          <a:solidFill>
            <a:srgbClr val="D6EF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76300" y="444500"/>
            <a:ext cx="42545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FCFCF7"/>
                </a:solidFill>
                <a:latin typeface="Inter"/>
              </a:rPr>
              <a:t>FIELD / FORWARD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10800" y="495300"/>
            <a:ext cx="13970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9FB3A7"/>
                </a:solidFill>
                <a:latin typeface="Inter"/>
              </a:rPr>
              <a:t>06  / 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0400" y="1079500"/>
            <a:ext cx="83820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D6EF8D"/>
                </a:solidFill>
                <a:latin typeface="Inter"/>
              </a:rPr>
              <a:t>05  /  PRACTICAL DEPLOYMENT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400" y="1841500"/>
            <a:ext cx="6096000" cy="825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200" b="1">
                <a:solidFill>
                  <a:srgbClr val="FCFCF7"/>
                </a:solidFill>
                <a:latin typeface="Inter Display"/>
              </a:rPr>
              <a:t>Technology should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400" y="2578100"/>
            <a:ext cx="5969000" cy="825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200" b="1">
                <a:solidFill>
                  <a:srgbClr val="D6EF8D"/>
                </a:solidFill>
                <a:latin typeface="Inter Display"/>
              </a:rPr>
              <a:t>fit the farmer.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949700"/>
            <a:ext cx="5207000" cy="142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0">
                <a:solidFill>
                  <a:srgbClr val="E9EDE1"/>
                </a:solidFill>
                <a:latin typeface="Inter"/>
              </a:rPr>
              <a:t>Cooperatives can make advanced tools useful across many farms without expecting every farmer to buy a robot.</a:t>
            </a:r>
          </a:p>
        </p:txBody>
      </p:sp>
      <p:cxnSp>
        <p:nvCxnSpPr>
          <p:cNvPr id="9" name="Connector 8"/>
          <p:cNvCxnSpPr/>
          <p:nvPr/>
        </p:nvCxnSpPr>
        <p:spPr>
          <a:xfrm flipH="1" flipV="1">
            <a:off x="9309100" y="1562100"/>
            <a:ext cx="25400" cy="2019300"/>
          </a:xfrm>
          <a:prstGeom prst="line">
            <a:avLst/>
          </a:prstGeom>
          <a:ln w="25400">
            <a:solidFill>
              <a:srgbClr val="69A8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9334500" y="2590800"/>
            <a:ext cx="1803400" cy="990600"/>
          </a:xfrm>
          <a:prstGeom prst="line">
            <a:avLst/>
          </a:prstGeom>
          <a:ln w="25400">
            <a:solidFill>
              <a:srgbClr val="69A8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9334500" y="3581400"/>
            <a:ext cx="1714500" cy="1282700"/>
          </a:xfrm>
          <a:prstGeom prst="line">
            <a:avLst/>
          </a:prstGeom>
          <a:ln w="25400">
            <a:solidFill>
              <a:srgbClr val="69A8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7848600" y="3581400"/>
            <a:ext cx="1485900" cy="1435100"/>
          </a:xfrm>
          <a:prstGeom prst="line">
            <a:avLst/>
          </a:prstGeom>
          <a:ln w="25400">
            <a:solidFill>
              <a:srgbClr val="69A8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 flipV="1">
            <a:off x="7454900" y="2832100"/>
            <a:ext cx="1879600" cy="749300"/>
          </a:xfrm>
          <a:prstGeom prst="line">
            <a:avLst/>
          </a:prstGeom>
          <a:ln w="25400">
            <a:solidFill>
              <a:srgbClr val="69A8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8343900" y="2590800"/>
            <a:ext cx="1981200" cy="1981200"/>
          </a:xfrm>
          <a:prstGeom prst="ellipse">
            <a:avLst/>
          </a:prstGeom>
          <a:solidFill>
            <a:srgbClr val="D6EF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458200" y="2705100"/>
            <a:ext cx="1752600" cy="1752600"/>
          </a:xfrm>
          <a:prstGeom prst="ellipse">
            <a:avLst/>
          </a:prstGeom>
          <a:solidFill>
            <a:srgbClr val="143B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58200" y="3175000"/>
            <a:ext cx="1752600" cy="5461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2800" b="1">
                <a:solidFill>
                  <a:srgbClr val="FCFCF7"/>
                </a:solidFill>
                <a:latin typeface="Inter Display"/>
              </a:rPr>
              <a:t>CO-OP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3721100"/>
            <a:ext cx="1752600" cy="381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400" b="1">
                <a:solidFill>
                  <a:srgbClr val="D6EF8D"/>
                </a:solidFill>
                <a:latin typeface="Inter"/>
              </a:rPr>
              <a:t>SHARED HUB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59800" y="1276350"/>
            <a:ext cx="1498600" cy="571500"/>
          </a:xfrm>
          <a:prstGeom prst="roundRect">
            <a:avLst/>
          </a:prstGeom>
          <a:solidFill>
            <a:srgbClr val="1A5444"/>
          </a:solidFill>
          <a:ln w="12700">
            <a:solidFill>
              <a:srgbClr val="69A8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59800" y="1276350"/>
            <a:ext cx="1498600" cy="571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300" b="1">
                <a:solidFill>
                  <a:srgbClr val="FCFCF7"/>
                </a:solidFill>
                <a:latin typeface="Inter"/>
              </a:rPr>
              <a:t>SOFTWARE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388600" y="2305050"/>
            <a:ext cx="1498600" cy="571500"/>
          </a:xfrm>
          <a:prstGeom prst="roundRect">
            <a:avLst/>
          </a:prstGeom>
          <a:solidFill>
            <a:srgbClr val="1A5444"/>
          </a:solidFill>
          <a:ln w="12700">
            <a:solidFill>
              <a:srgbClr val="69A8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388600" y="2305050"/>
            <a:ext cx="1498600" cy="571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300" b="1">
                <a:solidFill>
                  <a:srgbClr val="FCFCF7"/>
                </a:solidFill>
                <a:latin typeface="Inter"/>
              </a:rPr>
              <a:t>SERVICE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299700" y="4578350"/>
            <a:ext cx="1498600" cy="571500"/>
          </a:xfrm>
          <a:prstGeom prst="roundRect">
            <a:avLst/>
          </a:prstGeom>
          <a:solidFill>
            <a:srgbClr val="1A5444"/>
          </a:solidFill>
          <a:ln w="12700">
            <a:solidFill>
              <a:srgbClr val="69A8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99700" y="4578350"/>
            <a:ext cx="1498600" cy="571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300" b="1">
                <a:solidFill>
                  <a:srgbClr val="FCFCF7"/>
                </a:solidFill>
                <a:latin typeface="Inter"/>
              </a:rPr>
              <a:t>TOOLS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099300" y="4730750"/>
            <a:ext cx="1498600" cy="571500"/>
          </a:xfrm>
          <a:prstGeom prst="roundRect">
            <a:avLst/>
          </a:prstGeom>
          <a:solidFill>
            <a:srgbClr val="1A5444"/>
          </a:solidFill>
          <a:ln w="12700">
            <a:solidFill>
              <a:srgbClr val="69A8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99300" y="4730750"/>
            <a:ext cx="1498600" cy="571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300" b="1">
                <a:solidFill>
                  <a:srgbClr val="FCFCF7"/>
                </a:solidFill>
                <a:latin typeface="Inter"/>
              </a:rPr>
              <a:t>FIELD B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705600" y="2546350"/>
            <a:ext cx="1498600" cy="571500"/>
          </a:xfrm>
          <a:prstGeom prst="roundRect">
            <a:avLst/>
          </a:prstGeom>
          <a:solidFill>
            <a:srgbClr val="1A5444"/>
          </a:solidFill>
          <a:ln w="12700">
            <a:solidFill>
              <a:srgbClr val="69A8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05600" y="2546350"/>
            <a:ext cx="1498600" cy="571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300" b="1">
                <a:solidFill>
                  <a:srgbClr val="FCFCF7"/>
                </a:solidFill>
                <a:latin typeface="Inter"/>
              </a:rPr>
              <a:t>FIELD A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60400" y="6413500"/>
            <a:ext cx="10871200" cy="0"/>
          </a:xfrm>
          <a:prstGeom prst="line">
            <a:avLst/>
          </a:prstGeom>
          <a:ln w="12700">
            <a:solidFill>
              <a:srgbClr val="143B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60400" y="6477000"/>
            <a:ext cx="6350000" cy="241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9FB3A7"/>
                </a:solidFill>
                <a:latin typeface="Inter"/>
              </a:rPr>
              <a:t>DESIGN STUDY  /  CONNECTED AGRICULTURE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0" y="6477000"/>
            <a:ext cx="10541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9FB3A7"/>
                </a:solidFill>
                <a:latin typeface="Inter"/>
              </a:rPr>
              <a:t>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showMasterSp="1">
  <p:cSld>
    <p:bg>
      <p:bgPr>
        <a:solidFill>
          <a:srgbClr val="F7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35000" y="508000"/>
            <a:ext cx="127000" cy="127000"/>
          </a:xfrm>
          <a:prstGeom prst="roundRect">
            <a:avLst/>
          </a:prstGeom>
          <a:solidFill>
            <a:srgbClr val="347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76300" y="444500"/>
            <a:ext cx="42545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0A211D"/>
                </a:solidFill>
                <a:latin typeface="Inter"/>
              </a:rPr>
              <a:t>FIELD / FORWARD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10800" y="495300"/>
            <a:ext cx="13970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62766C"/>
                </a:solidFill>
                <a:latin typeface="Inter"/>
              </a:rPr>
              <a:t>07  / 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0400" y="1079500"/>
            <a:ext cx="83820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347A60"/>
                </a:solidFill>
                <a:latin typeface="Inter"/>
              </a:rPr>
              <a:t>06  /  ADOPTION PATHWAY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400" y="1549400"/>
            <a:ext cx="10858500" cy="787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200" b="1">
                <a:solidFill>
                  <a:srgbClr val="0A211D"/>
                </a:solidFill>
                <a:latin typeface="Inter Display"/>
              </a:rPr>
              <a:t>One platform. Many entry points.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451100"/>
            <a:ext cx="10858500" cy="431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100" b="0">
                <a:solidFill>
                  <a:srgbClr val="62766C"/>
                </a:solidFill>
                <a:latin typeface="Inter"/>
              </a:rPr>
              <a:t>Start with a useful tool. Add complexity only when it pays off.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0400" y="3505200"/>
            <a:ext cx="3390900" cy="2451100"/>
          </a:xfrm>
          <a:prstGeom prst="roundRect">
            <a:avLst/>
          </a:prstGeom>
          <a:solidFill>
            <a:srgbClr val="FCFCF7"/>
          </a:solidFill>
          <a:ln w="12700">
            <a:solidFill>
              <a:srgbClr val="CCD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60400" y="3505200"/>
            <a:ext cx="3390900" cy="127000"/>
          </a:xfrm>
          <a:prstGeom prst="roundRect">
            <a:avLst/>
          </a:prstGeom>
          <a:solidFill>
            <a:srgbClr val="347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9000" y="3911600"/>
            <a:ext cx="2857500" cy="711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300" b="1">
                <a:solidFill>
                  <a:srgbClr val="347A60"/>
                </a:solidFill>
                <a:latin typeface="Inter Display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9000" y="4648200"/>
            <a:ext cx="3060700" cy="673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00" b="1">
                <a:solidFill>
                  <a:srgbClr val="0A211D"/>
                </a:solidFill>
                <a:latin typeface="Inter"/>
              </a:rPr>
              <a:t>SOFTWARE FIRST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9000" y="5499100"/>
            <a:ext cx="30480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0">
                <a:solidFill>
                  <a:srgbClr val="62766C"/>
                </a:solidFill>
                <a:latin typeface="Inter"/>
              </a:rPr>
              <a:t>Visibility and workflows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94200" y="3505200"/>
            <a:ext cx="3390900" cy="2451100"/>
          </a:xfrm>
          <a:prstGeom prst="roundRect">
            <a:avLst/>
          </a:prstGeom>
          <a:solidFill>
            <a:srgbClr val="FCFCF7"/>
          </a:solidFill>
          <a:ln w="12700">
            <a:solidFill>
              <a:srgbClr val="CCD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94200" y="3505200"/>
            <a:ext cx="3390900" cy="127000"/>
          </a:xfrm>
          <a:prstGeom prst="roundRect">
            <a:avLst/>
          </a:prstGeom>
          <a:solidFill>
            <a:srgbClr val="1A5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22800" y="3911600"/>
            <a:ext cx="2857500" cy="711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300" b="1">
                <a:solidFill>
                  <a:srgbClr val="1A5444"/>
                </a:solidFill>
                <a:latin typeface="Inter Display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2800" y="4648200"/>
            <a:ext cx="3060700" cy="673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00" b="1">
                <a:solidFill>
                  <a:srgbClr val="0A211D"/>
                </a:solidFill>
                <a:latin typeface="Inter"/>
              </a:rPr>
              <a:t>AUTOMATION NEXT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22800" y="5499100"/>
            <a:ext cx="30480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0">
                <a:solidFill>
                  <a:srgbClr val="62766C"/>
                </a:solidFill>
                <a:latin typeface="Inter"/>
              </a:rPr>
              <a:t>Sensors and controls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28000" y="3505200"/>
            <a:ext cx="3390900" cy="2451100"/>
          </a:xfrm>
          <a:prstGeom prst="roundRect">
            <a:avLst/>
          </a:prstGeom>
          <a:solidFill>
            <a:srgbClr val="FCFCF7"/>
          </a:solidFill>
          <a:ln w="12700">
            <a:solidFill>
              <a:srgbClr val="CCD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128000" y="3505200"/>
            <a:ext cx="3390900" cy="127000"/>
          </a:xfrm>
          <a:prstGeom prst="roundRect">
            <a:avLst/>
          </a:prstGeom>
          <a:solidFill>
            <a:srgbClr val="F0A3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56600" y="3911600"/>
            <a:ext cx="2857500" cy="711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300" b="1">
                <a:solidFill>
                  <a:srgbClr val="F0A36D"/>
                </a:solidFill>
                <a:latin typeface="Inter Display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56600" y="4648200"/>
            <a:ext cx="3060700" cy="673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00" b="1">
                <a:solidFill>
                  <a:srgbClr val="0A211D"/>
                </a:solidFill>
                <a:latin typeface="Inter"/>
              </a:rPr>
              <a:t>ROBOTICS WHEN READY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56600" y="5499100"/>
            <a:ext cx="30480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0">
                <a:solidFill>
                  <a:srgbClr val="62766C"/>
                </a:solidFill>
                <a:latin typeface="Inter"/>
              </a:rPr>
              <a:t>Autonomous operations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60400" y="6413500"/>
            <a:ext cx="10871200" cy="0"/>
          </a:xfrm>
          <a:prstGeom prst="line">
            <a:avLst/>
          </a:prstGeom>
          <a:ln w="12700">
            <a:solidFill>
              <a:srgbClr val="CCD7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60400" y="6477000"/>
            <a:ext cx="6350000" cy="241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62766C"/>
                </a:solidFill>
                <a:latin typeface="Inter"/>
              </a:rPr>
              <a:t>DESIGN STUDY  /  CONNECTED AGRICULTURE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477000"/>
            <a:ext cx="10541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62766C"/>
                </a:solidFill>
                <a:latin typeface="Inter"/>
              </a:rPr>
              <a:t>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showMasterSp="1">
  <p:cSld>
    <p:bg>
      <p:bgPr>
        <a:solidFill>
          <a:srgbClr val="0A21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429500" y="0"/>
            <a:ext cx="4762500" cy="6858000"/>
          </a:xfrm>
          <a:prstGeom prst="rect">
            <a:avLst/>
          </a:prstGeom>
          <a:solidFill>
            <a:srgbClr val="143B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 rot="20760000">
            <a:off x="8064500" y="889000"/>
            <a:ext cx="3556000" cy="685800"/>
          </a:xfrm>
          <a:prstGeom prst="roundRect">
            <a:avLst/>
          </a:prstGeom>
          <a:solidFill>
            <a:srgbClr val="1A5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 rot="20760000">
            <a:off x="7937500" y="1828800"/>
            <a:ext cx="3860800" cy="685800"/>
          </a:xfrm>
          <a:prstGeom prst="roundRect">
            <a:avLst/>
          </a:prstGeom>
          <a:solidFill>
            <a:srgbClr val="347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 rot="20760000">
            <a:off x="7810500" y="2819400"/>
            <a:ext cx="3746500" cy="685800"/>
          </a:xfrm>
          <a:prstGeom prst="roundRect">
            <a:avLst/>
          </a:prstGeom>
          <a:solidFill>
            <a:srgbClr val="69A8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 rot="20760000">
            <a:off x="7683500" y="3848100"/>
            <a:ext cx="4064000" cy="685800"/>
          </a:xfrm>
          <a:prstGeom prst="roundRect">
            <a:avLst/>
          </a:prstGeom>
          <a:solidFill>
            <a:srgbClr val="1A5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 rot="20760000">
            <a:off x="7556500" y="4914900"/>
            <a:ext cx="4064000" cy="685800"/>
          </a:xfrm>
          <a:prstGeom prst="roundRect">
            <a:avLst/>
          </a:prstGeom>
          <a:solidFill>
            <a:srgbClr val="347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166100" y="2019300"/>
            <a:ext cx="2921000" cy="2921000"/>
          </a:xfrm>
          <a:prstGeom prst="ellipse">
            <a:avLst/>
          </a:prstGeom>
          <a:noFill/>
          <a:ln w="22860">
            <a:solidFill>
              <a:srgbClr val="D6EF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661400" y="2514600"/>
            <a:ext cx="1930400" cy="1930400"/>
          </a:xfrm>
          <a:prstGeom prst="ellipse">
            <a:avLst/>
          </a:prstGeom>
          <a:noFill/>
          <a:ln w="22860">
            <a:solidFill>
              <a:srgbClr val="BDD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0" y="2997200"/>
            <a:ext cx="965200" cy="965200"/>
          </a:xfrm>
          <a:prstGeom prst="ellipse">
            <a:avLst/>
          </a:prstGeom>
          <a:noFill/>
          <a:ln w="22860">
            <a:solidFill>
              <a:srgbClr val="9FB3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60400" y="571500"/>
            <a:ext cx="127000" cy="127000"/>
          </a:xfrm>
          <a:prstGeom prst="roundRect">
            <a:avLst/>
          </a:prstGeom>
          <a:solidFill>
            <a:srgbClr val="D6EF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08000"/>
            <a:ext cx="43180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>
                <a:solidFill>
                  <a:srgbClr val="FCFCF7"/>
                </a:solidFill>
                <a:latin typeface="Inter"/>
              </a:rPr>
              <a:t>FIELD / FORWARD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0400" y="1841500"/>
            <a:ext cx="7366000" cy="111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6000" b="1">
                <a:solidFill>
                  <a:srgbClr val="FCFCF7"/>
                </a:solidFill>
                <a:latin typeface="Inter Display"/>
              </a:rPr>
              <a:t>The next field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400" y="2895600"/>
            <a:ext cx="7048500" cy="1181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6500" b="1">
                <a:solidFill>
                  <a:srgbClr val="D6EF8D"/>
                </a:solidFill>
                <a:latin typeface="Inter Display"/>
              </a:rPr>
              <a:t>starts here.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8500" y="4546600"/>
            <a:ext cx="736600" cy="63500"/>
          </a:xfrm>
          <a:prstGeom prst="roundRect">
            <a:avLst/>
          </a:prstGeom>
          <a:solidFill>
            <a:srgbClr val="F0A3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5041900"/>
            <a:ext cx="6731000" cy="812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0">
                <a:solidFill>
                  <a:srgbClr val="E9EDE1"/>
                </a:solidFill>
                <a:latin typeface="Inter"/>
              </a:rPr>
              <a:t>Prototype thoughtfully. Learn in the field. Scale what works.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8500" y="6413500"/>
            <a:ext cx="6985000" cy="279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9FB3A7"/>
                </a:solidFill>
                <a:latin typeface="Inter"/>
              </a:rPr>
              <a:t>A TYPOGRAPHICALLY EDITABLE TYPST + PPTX DESIGN STUDY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79100" y="6413500"/>
            <a:ext cx="1270000" cy="279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D6EF8D"/>
                </a:solidFill>
                <a:latin typeface="Inter"/>
              </a:rPr>
              <a:t>08 / 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