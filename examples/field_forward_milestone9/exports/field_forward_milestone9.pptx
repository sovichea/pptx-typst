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Light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4157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Dark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43173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<Relationship Id="rIdLayout2147483761" Type="http://schemas.openxmlformats.org/officeDocument/2006/relationships/slideLayout" Target="../slideLayouts/slideLayout12.xml"/><Relationship Id="rIdLayout2147483762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Layout2147483761"/>
    <p:sldLayoutId id="2147483762" r:id="rIdLayout214748376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bg>
      <p:bgPr>
        <a:solidFill>
          <a:srgbClr val="0A2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02600" y="0"/>
            <a:ext cx="4089400" cy="6858000"/>
          </a:xfrm>
          <a:prstGeom prst="rect">
            <a:avLst/>
          </a:prstGeom>
          <a:solidFill>
            <a:srgbClr val="143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0640000">
            <a:off x="8661400" y="1600200"/>
            <a:ext cx="2971800" cy="939800"/>
          </a:xfrm>
          <a:prstGeom prst="roundRect">
            <a:avLst>
              <a:gd name="adj" fmla="val 12162"/>
            </a:avLst>
          </a:prstGeom>
          <a:solidFill>
            <a:srgbClr val="1A5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0640000">
            <a:off x="8940800" y="2451100"/>
            <a:ext cx="2641600" cy="863600"/>
          </a:xfrm>
          <a:prstGeom prst="roundRect">
            <a:avLst>
              <a:gd name="adj" fmla="val 13235"/>
            </a:avLst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0640000">
            <a:off x="8648700" y="3390900"/>
            <a:ext cx="3111500" cy="838200"/>
          </a:xfrm>
          <a:prstGeom prst="roundRect">
            <a:avLst>
              <a:gd name="adj" fmla="val 13636"/>
            </a:avLst>
          </a:prstGeom>
          <a:solidFill>
            <a:srgbClr val="1A5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20640000">
            <a:off x="9245600" y="4229100"/>
            <a:ext cx="2603500" cy="914400"/>
          </a:xfrm>
          <a:prstGeom prst="roundRect">
            <a:avLst>
              <a:gd name="adj" fmla="val 12500"/>
            </a:avLst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42300" y="1638300"/>
            <a:ext cx="3505200" cy="3505200"/>
          </a:xfrm>
          <a:prstGeom prst="ellipse">
            <a:avLst/>
          </a:prstGeom>
          <a:noFill/>
          <a:ln w="21590">
            <a:solidFill>
              <a:srgbClr val="9FB3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12200" y="2108200"/>
            <a:ext cx="2565400" cy="2565400"/>
          </a:xfrm>
          <a:prstGeom prst="ellipse">
            <a:avLst/>
          </a:prstGeom>
          <a:noFill/>
          <a:ln w="21590">
            <a:solidFill>
              <a:srgbClr val="69A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69400" y="2565400"/>
            <a:ext cx="1651000" cy="1651000"/>
          </a:xfrm>
          <a:prstGeom prst="ellipse">
            <a:avLst/>
          </a:prstGeom>
          <a:noFill/>
          <a:ln w="21590">
            <a:solidFill>
              <a:srgbClr val="D6E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67900" y="3263900"/>
            <a:ext cx="254000" cy="254000"/>
          </a:xfrm>
          <a:prstGeom prst="ellipse">
            <a:avLst/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66300" y="3162300"/>
            <a:ext cx="457200" cy="457200"/>
          </a:xfrm>
          <a:prstGeom prst="ellipse">
            <a:avLst/>
          </a:prstGeom>
          <a:noFill/>
          <a:ln w="25400">
            <a:solidFill>
              <a:srgbClr val="D6E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0400" y="5461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2600"/>
            <a:ext cx="4368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FCFCF7"/>
                </a:solidFill>
                <a:latin typeface="Inter"/>
              </a:rPr>
              <a:t>FIELD / FORWARD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562100"/>
            <a:ext cx="6604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D6EF8D"/>
                </a:solidFill>
                <a:latin typeface="Inter"/>
              </a:rPr>
              <a:t>A CONNECTED AGRICULTURE DESIGN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400" y="2273300"/>
            <a:ext cx="7391400" cy="111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400" b="1">
                <a:solidFill>
                  <a:srgbClr val="FCFCF7"/>
                </a:solidFill>
                <a:latin typeface="Inter Display"/>
              </a:rPr>
              <a:t>The next field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400" y="3289300"/>
            <a:ext cx="7239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400" b="1">
                <a:solidFill>
                  <a:srgbClr val="FCFCF7"/>
                </a:solidFill>
                <a:latin typeface="Inter Display"/>
              </a:rPr>
              <a:t>is connected.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8500" y="4787900"/>
            <a:ext cx="762000" cy="63500"/>
          </a:xfrm>
          <a:prstGeom prst="roundRect">
            <a:avLst>
              <a:gd name="adj" fmla="val 20000"/>
            </a:avLst>
          </a:prstGeom>
          <a:solidFill>
            <a:srgbClr val="F0A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100" y="5168900"/>
            <a:ext cx="660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>
                <a:solidFill>
                  <a:srgbClr val="E9EDE1"/>
                </a:solidFill>
                <a:latin typeface="Inter"/>
              </a:rPr>
              <a:t>Where sensors, software and robotics work as one useful system.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100" y="6426200"/>
            <a:ext cx="6731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FB3A7"/>
                </a:solidFill>
                <a:latin typeface="Inter"/>
              </a:rPr>
              <a:t>CONCEPT PRESENTATION   /   OCTOBER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91800" y="6426200"/>
            <a:ext cx="1143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D6EF8D"/>
                </a:solidFill>
                <a:latin typeface="Inter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bg>
      <p:bgPr>
        <a:solidFill>
          <a:srgbClr val="F7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5000" y="5080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6300" y="444500"/>
            <a:ext cx="42545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A211D"/>
                </a:solidFill>
                <a:latin typeface="Inter"/>
              </a:rPr>
              <a:t>FIELD /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10800" y="495300"/>
            <a:ext cx="1397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62766C"/>
                </a:solidFill>
                <a:latin typeface="Inter"/>
              </a:rPr>
              <a:t>02  /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079500"/>
            <a:ext cx="8382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347A60"/>
                </a:solidFill>
                <a:latin typeface="Inter"/>
              </a:rPr>
              <a:t>01  /  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1612900"/>
            <a:ext cx="11303000" cy="800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300" b="1">
                <a:solidFill>
                  <a:srgbClr val="0A211D"/>
                </a:solidFill>
                <a:latin typeface="Inter Display"/>
              </a:rPr>
              <a:t>Agriculture is a systems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90800"/>
            <a:ext cx="104013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>
                <a:solidFill>
                  <a:srgbClr val="62766C"/>
                </a:solidFill>
                <a:latin typeface="Inter"/>
              </a:rPr>
              <a:t>Better outcomes begin when information and action connect.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0400" y="3733800"/>
            <a:ext cx="3403600" cy="2082800"/>
          </a:xfrm>
          <a:prstGeom prst="roundRect">
            <a:avLst>
              <a:gd name="adj" fmla="val 8536"/>
            </a:avLst>
          </a:prstGeom>
          <a:solidFill>
            <a:srgbClr val="FCFCF7"/>
          </a:solidFill>
          <a:ln w="12700">
            <a:solidFill>
              <a:srgbClr val="CCD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9000" y="3962400"/>
            <a:ext cx="571500" cy="63500"/>
          </a:xfrm>
          <a:prstGeom prst="roundRect">
            <a:avLst>
              <a:gd name="adj" fmla="val 20000"/>
            </a:avLst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4191000"/>
            <a:ext cx="9525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500" b="1">
                <a:solidFill>
                  <a:srgbClr val="347A60"/>
                </a:solidFill>
                <a:latin typeface="Inter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9600" y="4292600"/>
            <a:ext cx="20447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A211D"/>
                </a:solidFill>
                <a:latin typeface="Inter"/>
              </a:rPr>
              <a:t>SENSE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" y="4991100"/>
            <a:ext cx="302260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62766C"/>
                </a:solidFill>
                <a:latin typeface="Inter"/>
              </a:rPr>
              <a:t>Make conditions visible.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4200" y="3733800"/>
            <a:ext cx="3403600" cy="2082800"/>
          </a:xfrm>
          <a:prstGeom prst="roundRect">
            <a:avLst>
              <a:gd name="adj" fmla="val 8536"/>
            </a:avLst>
          </a:prstGeom>
          <a:solidFill>
            <a:srgbClr val="FCFCF7"/>
          </a:solidFill>
          <a:ln w="12700">
            <a:solidFill>
              <a:srgbClr val="CCD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22800" y="3962400"/>
            <a:ext cx="571500" cy="63500"/>
          </a:xfrm>
          <a:prstGeom prst="roundRect">
            <a:avLst>
              <a:gd name="adj" fmla="val 20000"/>
            </a:avLst>
          </a:prstGeom>
          <a:solidFill>
            <a:srgbClr val="1A5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2800" y="4191000"/>
            <a:ext cx="9525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500" b="1">
                <a:solidFill>
                  <a:srgbClr val="1A5444"/>
                </a:solidFill>
                <a:latin typeface="Inter Display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3400" y="4292600"/>
            <a:ext cx="20447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A211D"/>
                </a:solidFill>
                <a:latin typeface="Inter"/>
              </a:rPr>
              <a:t>DECIDE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5500" y="4991100"/>
            <a:ext cx="302260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62766C"/>
                </a:solidFill>
                <a:latin typeface="Inter"/>
              </a:rPr>
              <a:t>Turn signals into priorities.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8000" y="3733800"/>
            <a:ext cx="3403600" cy="2082800"/>
          </a:xfrm>
          <a:prstGeom prst="roundRect">
            <a:avLst>
              <a:gd name="adj" fmla="val 8536"/>
            </a:avLst>
          </a:prstGeom>
          <a:solidFill>
            <a:srgbClr val="FCFCF7"/>
          </a:solidFill>
          <a:ln w="12700">
            <a:solidFill>
              <a:srgbClr val="CCD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56600" y="3962400"/>
            <a:ext cx="571500" cy="63500"/>
          </a:xfrm>
          <a:prstGeom prst="roundRect">
            <a:avLst>
              <a:gd name="adj" fmla="val 20000"/>
            </a:avLst>
          </a:prstGeom>
          <a:solidFill>
            <a:srgbClr val="F0A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6600" y="4191000"/>
            <a:ext cx="9525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500" b="1">
                <a:solidFill>
                  <a:srgbClr val="F0A36D"/>
                </a:solidFill>
                <a:latin typeface="Inter Display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7200" y="4292600"/>
            <a:ext cx="20447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A211D"/>
                </a:solidFill>
                <a:latin typeface="Inter"/>
              </a:rPr>
              <a:t>RESPOND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9300" y="4991100"/>
            <a:ext cx="3022600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62766C"/>
                </a:solidFill>
                <a:latin typeface="Inter"/>
              </a:rPr>
              <a:t>Act where it matters.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0400" y="6413500"/>
            <a:ext cx="10871200" cy="0"/>
          </a:xfrm>
          <a:prstGeom prst="line">
            <a:avLst/>
          </a:prstGeom>
          <a:ln w="12700">
            <a:solidFill>
              <a:srgbClr val="CCD7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0400" y="6477000"/>
            <a:ext cx="6350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2766C"/>
                </a:solidFill>
                <a:latin typeface="Inter"/>
              </a:rPr>
              <a:t>DESIGN STUDY  /  CONNECTED AGRICULTURE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77000"/>
            <a:ext cx="1054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2766C"/>
                </a:solidFill>
                <a:latin typeface="Inter"/>
              </a:rPr>
              <a:t>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bg>
      <p:bgPr>
        <a:solidFill>
          <a:srgbClr val="0A2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5000" y="5080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6300" y="444500"/>
            <a:ext cx="42545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CFCF7"/>
                </a:solidFill>
                <a:latin typeface="Inter"/>
              </a:rPr>
              <a:t>FIELD /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10800" y="495300"/>
            <a:ext cx="1397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9FB3A7"/>
                </a:solidFill>
                <a:latin typeface="Inter"/>
              </a:rPr>
              <a:t>03  /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079500"/>
            <a:ext cx="8382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D6EF8D"/>
                </a:solidFill>
                <a:latin typeface="Inter"/>
              </a:rPr>
              <a:t>02  /  THE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1739900"/>
            <a:ext cx="5969000" cy="749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200" b="1">
                <a:solidFill>
                  <a:srgbClr val="FCFCF7"/>
                </a:solidFill>
                <a:latin typeface="Inter Display"/>
              </a:rPr>
              <a:t>See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2501900"/>
            <a:ext cx="60960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D6EF8D"/>
                </a:solidFill>
                <a:latin typeface="Inter Display"/>
              </a:rPr>
              <a:t>invisible.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37000"/>
            <a:ext cx="5562600" cy="1320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>
                <a:solidFill>
                  <a:srgbClr val="E9EDE1"/>
                </a:solidFill>
                <a:latin typeface="Inter"/>
              </a:rPr>
              <a:t>Water. Soil. Movement. The field tells a story when its signals are connected.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80200" y="1143000"/>
            <a:ext cx="4889500" cy="4826000"/>
          </a:xfrm>
          <a:prstGeom prst="roundRect">
            <a:avLst>
              <a:gd name="adj" fmla="val 4210"/>
            </a:avLst>
          </a:prstGeom>
          <a:solidFill>
            <a:srgbClr val="143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59600" y="1409700"/>
            <a:ext cx="4318000" cy="4267200"/>
          </a:xfrm>
          <a:prstGeom prst="roundRect">
            <a:avLst>
              <a:gd name="adj" fmla="val 2976"/>
            </a:avLst>
          </a:prstGeom>
          <a:solidFill>
            <a:srgbClr val="1A5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39000" y="1625600"/>
            <a:ext cx="736600" cy="3835400"/>
          </a:xfrm>
          <a:prstGeom prst="roundRect">
            <a:avLst>
              <a:gd name="adj" fmla="val 15517"/>
            </a:avLst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27900" y="1917700"/>
            <a:ext cx="5588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27900" y="2641600"/>
            <a:ext cx="5588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27900" y="3365500"/>
            <a:ext cx="5588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27900" y="4089400"/>
            <a:ext cx="5588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27900" y="4813300"/>
            <a:ext cx="5588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13700" y="1625600"/>
            <a:ext cx="660400" cy="3835400"/>
          </a:xfrm>
          <a:prstGeom prst="roundRect">
            <a:avLst>
              <a:gd name="adj" fmla="val 17307"/>
            </a:avLst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2600" y="1917700"/>
            <a:ext cx="4826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2600" y="2641600"/>
            <a:ext cx="4826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2600" y="3365500"/>
            <a:ext cx="4826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2600" y="4089400"/>
            <a:ext cx="4826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2600" y="4813300"/>
            <a:ext cx="4826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88400" y="1625600"/>
            <a:ext cx="812800" cy="3835400"/>
          </a:xfrm>
          <a:prstGeom prst="roundRect">
            <a:avLst>
              <a:gd name="adj" fmla="val 14062"/>
            </a:avLst>
          </a:prstGeom>
          <a:solidFill>
            <a:srgbClr val="244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77300" y="1917700"/>
            <a:ext cx="6350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77300" y="2641600"/>
            <a:ext cx="6350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77300" y="3365500"/>
            <a:ext cx="6350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77300" y="4089400"/>
            <a:ext cx="6350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77300" y="4813300"/>
            <a:ext cx="6350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63100" y="1625600"/>
            <a:ext cx="635000" cy="3835400"/>
          </a:xfrm>
          <a:prstGeom prst="roundRect">
            <a:avLst>
              <a:gd name="adj" fmla="val 18000"/>
            </a:avLst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52000" y="1917700"/>
            <a:ext cx="4572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52000" y="2641600"/>
            <a:ext cx="4572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52000" y="3365500"/>
            <a:ext cx="4572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52000" y="4089400"/>
            <a:ext cx="4572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52000" y="4813300"/>
            <a:ext cx="4572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337800" y="1625600"/>
            <a:ext cx="584200" cy="3835400"/>
          </a:xfrm>
          <a:prstGeom prst="roundRect">
            <a:avLst>
              <a:gd name="adj" fmla="val 19565"/>
            </a:avLst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426700" y="1917700"/>
            <a:ext cx="4064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426700" y="2641600"/>
            <a:ext cx="4064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26700" y="3365500"/>
            <a:ext cx="4064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426700" y="4089400"/>
            <a:ext cx="4064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426700" y="4813300"/>
            <a:ext cx="406400" cy="25400"/>
          </a:xfrm>
          <a:prstGeom prst="rect">
            <a:avLst/>
          </a:prstGeom>
          <a:solidFill>
            <a:srgbClr val="BDD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99400" y="2413000"/>
            <a:ext cx="558800" cy="558800"/>
          </a:xfrm>
          <a:prstGeom prst="ellipse">
            <a:avLst/>
          </a:prstGeom>
          <a:noFill/>
          <a:ln w="25400">
            <a:solidFill>
              <a:srgbClr val="D6E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115300" y="2628900"/>
            <a:ext cx="127000" cy="127000"/>
          </a:xfrm>
          <a:prstGeom prst="ellipse">
            <a:avLst/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702800" y="3911600"/>
            <a:ext cx="558800" cy="558800"/>
          </a:xfrm>
          <a:prstGeom prst="ellipse">
            <a:avLst/>
          </a:prstGeom>
          <a:noFill/>
          <a:ln w="25400">
            <a:solidFill>
              <a:srgbClr val="D6E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918700" y="4127500"/>
            <a:ext cx="127000" cy="127000"/>
          </a:xfrm>
          <a:prstGeom prst="ellipse">
            <a:avLst/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004300" y="1816100"/>
            <a:ext cx="558800" cy="558800"/>
          </a:xfrm>
          <a:prstGeom prst="ellipse">
            <a:avLst/>
          </a:prstGeom>
          <a:noFill/>
          <a:ln w="25400">
            <a:solidFill>
              <a:srgbClr val="D6E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220200" y="2032000"/>
            <a:ext cx="127000" cy="127000"/>
          </a:xfrm>
          <a:prstGeom prst="ellipse">
            <a:avLst/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807200" y="4749800"/>
            <a:ext cx="2971800" cy="825500"/>
          </a:xfrm>
          <a:prstGeom prst="roundRect">
            <a:avLst>
              <a:gd name="adj" fmla="val 13846"/>
            </a:avLst>
          </a:prstGeom>
          <a:solidFill>
            <a:srgbClr val="F7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72300" y="4940300"/>
            <a:ext cx="27178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347A60"/>
                </a:solidFill>
                <a:latin typeface="Inter"/>
              </a:rPr>
              <a:t>FIELD VISIBILITY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72300" y="5232400"/>
            <a:ext cx="26924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0A211D"/>
                </a:solidFill>
                <a:latin typeface="Inter"/>
              </a:rPr>
              <a:t>Concept illustration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60400" y="6413500"/>
            <a:ext cx="10871200" cy="0"/>
          </a:xfrm>
          <a:prstGeom prst="line">
            <a:avLst/>
          </a:prstGeom>
          <a:ln w="12700">
            <a:solidFill>
              <a:srgbClr val="143B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60400" y="6477000"/>
            <a:ext cx="6350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FB3A7"/>
                </a:solidFill>
                <a:latin typeface="Inter"/>
              </a:rPr>
              <a:t>DESIGN STUDY  /  CONNECTED AGRICULTURE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477000"/>
            <a:ext cx="1054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FB3A7"/>
                </a:solidFill>
                <a:latin typeface="Inter"/>
              </a:rPr>
              <a:t>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bg>
      <p:bgPr>
        <a:solidFill>
          <a:srgbClr val="F7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5000" y="5080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6300" y="444500"/>
            <a:ext cx="42545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A211D"/>
                </a:solidFill>
                <a:latin typeface="Inter"/>
              </a:rPr>
              <a:t>FIELD /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10800" y="495300"/>
            <a:ext cx="1397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62766C"/>
                </a:solidFill>
                <a:latin typeface="Inter"/>
              </a:rPr>
              <a:t>04  /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079500"/>
            <a:ext cx="8382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347A60"/>
                </a:solidFill>
                <a:latin typeface="Inter"/>
              </a:rPr>
              <a:t>03  / 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1600200"/>
            <a:ext cx="10731500" cy="83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300" b="1">
                <a:solidFill>
                  <a:srgbClr val="0A211D"/>
                </a:solidFill>
                <a:latin typeface="Inter Display"/>
              </a:rPr>
              <a:t>From observation to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" y="2540000"/>
            <a:ext cx="10833100" cy="482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>
                <a:solidFill>
                  <a:srgbClr val="62766C"/>
                </a:solidFill>
                <a:latin typeface="Inter"/>
              </a:rPr>
              <a:t>Three connected layers. One clearer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0400" y="3530600"/>
            <a:ext cx="3302000" cy="2324100"/>
          </a:xfrm>
          <a:prstGeom prst="roundRect">
            <a:avLst>
              <a:gd name="adj" fmla="val 8196"/>
            </a:avLst>
          </a:prstGeom>
          <a:solidFill>
            <a:srgbClr val="FCFCF7"/>
          </a:solidFill>
          <a:ln w="12700">
            <a:solidFill>
              <a:srgbClr val="CCD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400" y="3530600"/>
            <a:ext cx="3302000" cy="2324100"/>
          </a:xfrm>
          <a:prstGeom prst="rect">
            <a:avLst/>
          </a:prstGeom>
          <a:noFill/>
        </p:spPr>
        <p:txBody>
          <a:bodyPr wrap="square" lIns="203200" rIns="177800" tIns="1041400" bIns="127000" anchor="t"/>
          <a:lstStyle/>
          <a:p>
            <a:pPr algn="l"/>
            <a:r>
              <a:rPr sz="2500" b="1">
                <a:solidFill>
                  <a:srgbClr val="0A211D"/>
                </a:solidFill>
                <a:latin typeface="Inter"/>
              </a:rPr>
              <a:t>OBSERVE</a:t>
            </a:r>
          </a:p>
          <a:p>
            <a:pPr algn="l"/>
            <a:r>
              <a:rPr sz="1800" b="0">
                <a:solidFill>
                  <a:srgbClr val="62766C"/>
                </a:solidFill>
                <a:latin typeface="Inter"/>
              </a:rPr>
              <a:t>Sensors and devices capture field conditions.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900" y="3733800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900" y="3733800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400" b="1">
                <a:solidFill>
                  <a:srgbClr val="FCFCF7"/>
                </a:solidFill>
                <a:latin typeface="Inter"/>
              </a:rP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5000" y="3530600"/>
            <a:ext cx="3302000" cy="2324100"/>
          </a:xfrm>
          <a:prstGeom prst="roundRect">
            <a:avLst>
              <a:gd name="adj" fmla="val 8196"/>
            </a:avLst>
          </a:prstGeom>
          <a:solidFill>
            <a:srgbClr val="FCFCF7"/>
          </a:solidFill>
          <a:ln w="12700">
            <a:solidFill>
              <a:srgbClr val="CCD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5000" y="3530600"/>
            <a:ext cx="3302000" cy="2324100"/>
          </a:xfrm>
          <a:prstGeom prst="rect">
            <a:avLst/>
          </a:prstGeom>
          <a:noFill/>
        </p:spPr>
        <p:txBody>
          <a:bodyPr wrap="square" lIns="203200" rIns="177800" tIns="1041400" bIns="127000" anchor="t"/>
          <a:lstStyle/>
          <a:p>
            <a:pPr algn="l"/>
            <a:r>
              <a:rPr sz="2500" b="1">
                <a:solidFill>
                  <a:srgbClr val="0A211D"/>
                </a:solidFill>
                <a:latin typeface="Inter"/>
              </a:rPr>
              <a:t>INTERPRET</a:t>
            </a:r>
          </a:p>
          <a:p>
            <a:pPr algn="l"/>
            <a:r>
              <a:rPr sz="1800" b="0">
                <a:solidFill>
                  <a:srgbClr val="62766C"/>
                </a:solidFill>
                <a:latin typeface="Inter"/>
              </a:rPr>
              <a:t>Software turns raw readings into decisions.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5500" y="3733800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1A5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5500" y="3733800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400" b="1">
                <a:solidFill>
                  <a:srgbClr val="FCFCF7"/>
                </a:solidFill>
                <a:latin typeface="Inter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530600"/>
            <a:ext cx="3302000" cy="2324100"/>
          </a:xfrm>
          <a:prstGeom prst="roundRect">
            <a:avLst>
              <a:gd name="adj" fmla="val 8196"/>
            </a:avLst>
          </a:prstGeom>
          <a:solidFill>
            <a:srgbClr val="FCFCF7"/>
          </a:solidFill>
          <a:ln w="12700">
            <a:solidFill>
              <a:srgbClr val="CCD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530600"/>
            <a:ext cx="3302000" cy="2324100"/>
          </a:xfrm>
          <a:prstGeom prst="rect">
            <a:avLst/>
          </a:prstGeom>
          <a:noFill/>
        </p:spPr>
        <p:txBody>
          <a:bodyPr wrap="square" lIns="203200" rIns="177800" tIns="1041400" bIns="127000" anchor="t"/>
          <a:lstStyle/>
          <a:p>
            <a:pPr algn="l"/>
            <a:r>
              <a:rPr sz="2500" b="1">
                <a:solidFill>
                  <a:srgbClr val="0A211D"/>
                </a:solidFill>
                <a:latin typeface="Inter"/>
              </a:rPr>
              <a:t>ACT</a:t>
            </a:r>
          </a:p>
          <a:p>
            <a:pPr algn="l"/>
            <a:r>
              <a:rPr sz="1800" b="0">
                <a:solidFill>
                  <a:srgbClr val="62766C"/>
                </a:solidFill>
                <a:latin typeface="Inter"/>
              </a:rPr>
              <a:t>People and machines complete the task.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20100" y="3733800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F0A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0100" y="3733800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400" b="1">
                <a:solidFill>
                  <a:srgbClr val="FCFCF7"/>
                </a:solidFill>
                <a:latin typeface="Inter"/>
              </a:rPr>
              <a:t>03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13200" y="4711700"/>
            <a:ext cx="355600" cy="0"/>
          </a:xfrm>
          <a:prstGeom prst="line">
            <a:avLst/>
          </a:prstGeom>
          <a:ln w="38100">
            <a:solidFill>
              <a:srgbClr val="69A8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229100" y="4648200"/>
            <a:ext cx="127000" cy="127000"/>
          </a:xfrm>
          <a:prstGeom prst="ellipse">
            <a:avLst/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797800" y="4711700"/>
            <a:ext cx="355600" cy="0"/>
          </a:xfrm>
          <a:prstGeom prst="line">
            <a:avLst/>
          </a:prstGeom>
          <a:ln w="38100">
            <a:solidFill>
              <a:srgbClr val="69A8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013700" y="4648200"/>
            <a:ext cx="127000" cy="127000"/>
          </a:xfrm>
          <a:prstGeom prst="ellipse">
            <a:avLst/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60400" y="6413500"/>
            <a:ext cx="10871200" cy="0"/>
          </a:xfrm>
          <a:prstGeom prst="line">
            <a:avLst/>
          </a:prstGeom>
          <a:ln w="12700">
            <a:solidFill>
              <a:srgbClr val="CCD7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60400" y="6477000"/>
            <a:ext cx="6350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2766C"/>
                </a:solidFill>
                <a:latin typeface="Inter"/>
              </a:rPr>
              <a:t>DESIGN STUDY  /  CONNECTED AGRICULTURE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77000"/>
            <a:ext cx="1054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2766C"/>
                </a:solidFill>
                <a:latin typeface="Inter"/>
              </a:rPr>
              <a:t>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bg>
      <p:bgPr>
        <a:solidFill>
          <a:srgbClr val="E9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5000" y="5080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6300" y="444500"/>
            <a:ext cx="42545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A211D"/>
                </a:solidFill>
                <a:latin typeface="Inter"/>
              </a:rPr>
              <a:t>FIELD /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10800" y="495300"/>
            <a:ext cx="1397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62766C"/>
                </a:solidFill>
                <a:latin typeface="Inter"/>
              </a:rPr>
              <a:t>05  /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079500"/>
            <a:ext cx="8382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347A60"/>
                </a:solidFill>
                <a:latin typeface="Inter"/>
              </a:rPr>
              <a:t>04  /  OPERATIONAL CLARITY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1854200"/>
            <a:ext cx="4343400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1">
                <a:solidFill>
                  <a:srgbClr val="0A211D"/>
                </a:solidFill>
                <a:latin typeface="Inter Display"/>
              </a:rPr>
              <a:t>A control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2590800"/>
            <a:ext cx="4445000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1">
                <a:solidFill>
                  <a:srgbClr val="0A211D"/>
                </a:solidFill>
                <a:latin typeface="Inter Display"/>
              </a:rPr>
              <a:t>for every field.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848100"/>
            <a:ext cx="635000" cy="63500"/>
          </a:xfrm>
          <a:prstGeom prst="roundRect">
            <a:avLst>
              <a:gd name="adj" fmla="val 20000"/>
            </a:avLst>
          </a:prstGeom>
          <a:solidFill>
            <a:srgbClr val="F0A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400" y="4292600"/>
            <a:ext cx="4127500" cy="138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300" b="0">
                <a:solidFill>
                  <a:srgbClr val="62766C"/>
                </a:solidFill>
                <a:latin typeface="Inter"/>
              </a:rPr>
              <a:t>A single place to see priorities, organize work and keep humans in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8600" y="1422400"/>
            <a:ext cx="6223000" cy="4559300"/>
          </a:xfrm>
          <a:prstGeom prst="roundRect">
            <a:avLst>
              <a:gd name="adj" fmla="val 4735"/>
            </a:avLst>
          </a:prstGeom>
          <a:solidFill>
            <a:srgbClr val="0A21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11800" y="1625600"/>
            <a:ext cx="5816600" cy="546100"/>
          </a:xfrm>
          <a:prstGeom prst="roundRect">
            <a:avLst>
              <a:gd name="adj" fmla="val 20930"/>
            </a:avLst>
          </a:prstGeom>
          <a:solidFill>
            <a:srgbClr val="143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40400" y="1841500"/>
            <a:ext cx="127000" cy="127000"/>
          </a:xfrm>
          <a:prstGeom prst="ellipse">
            <a:avLst/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11800" y="1625600"/>
            <a:ext cx="5816600" cy="546100"/>
          </a:xfrm>
          <a:prstGeom prst="rect">
            <a:avLst/>
          </a:prstGeom>
          <a:noFill/>
        </p:spPr>
        <p:txBody>
          <a:bodyPr wrap="square" lIns="508000" rIns="457200" tIns="114300" bIns="0" anchor="t"/>
          <a:lstStyle/>
          <a:p>
            <a:pPr algn="l"/>
            <a:r>
              <a:rPr sz="1600" b="1">
                <a:solidFill>
                  <a:srgbClr val="FCFCF7"/>
                </a:solidFill>
                <a:latin typeface="Inter"/>
              </a:rPr>
              <a:t>FIELD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1800" y="1625600"/>
            <a:ext cx="5816600" cy="546100"/>
          </a:xfrm>
          <a:prstGeom prst="rect">
            <a:avLst/>
          </a:prstGeom>
          <a:noFill/>
        </p:spPr>
        <p:txBody>
          <a:bodyPr wrap="square" lIns="0" rIns="457200" tIns="0" bIns="0" anchor="ctr"/>
          <a:lstStyle/>
          <a:p>
            <a:pPr algn="r"/>
            <a:r>
              <a:rPr sz="1200" b="1">
                <a:solidFill>
                  <a:srgbClr val="D6EF8D"/>
                </a:solidFill>
                <a:latin typeface="Inter"/>
              </a:rPr>
              <a:t>LIVE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49900" y="2362200"/>
            <a:ext cx="3581400" cy="3213100"/>
          </a:xfrm>
          <a:prstGeom prst="roundRect">
            <a:avLst>
              <a:gd name="adj" fmla="val 4743"/>
            </a:avLst>
          </a:prstGeom>
          <a:solidFill>
            <a:srgbClr val="143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96400" y="2362200"/>
            <a:ext cx="1993900" cy="1485900"/>
          </a:xfrm>
          <a:prstGeom prst="roundRect">
            <a:avLst>
              <a:gd name="adj" fmla="val 9401"/>
            </a:avLst>
          </a:prstGeom>
          <a:solidFill>
            <a:srgbClr val="1A5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96400" y="4000500"/>
            <a:ext cx="1993900" cy="1574800"/>
          </a:xfrm>
          <a:prstGeom prst="roundRect">
            <a:avLst>
              <a:gd name="adj" fmla="val 8870"/>
            </a:avLst>
          </a:prstGeom>
          <a:solidFill>
            <a:srgbClr val="1A5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49900" y="2362200"/>
            <a:ext cx="3581400" cy="3213100"/>
          </a:xfrm>
          <a:prstGeom prst="rect">
            <a:avLst/>
          </a:prstGeom>
          <a:noFill/>
        </p:spPr>
        <p:txBody>
          <a:bodyPr wrap="square" lIns="165100" rIns="215900" tIns="177800" bIns="0" anchor="t"/>
          <a:lstStyle/>
          <a:p>
            <a:pPr algn="l"/>
            <a:r>
              <a:rPr sz="1700" b="1">
                <a:solidFill>
                  <a:srgbClr val="E9EDE1"/>
                </a:solidFill>
                <a:latin typeface="Inter"/>
              </a:rPr>
              <a:t>Soil moisture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6400" y="2362200"/>
            <a:ext cx="1993900" cy="1485900"/>
          </a:xfrm>
          <a:prstGeom prst="rect">
            <a:avLst/>
          </a:prstGeom>
          <a:noFill/>
        </p:spPr>
        <p:txBody>
          <a:bodyPr wrap="square" lIns="203200" rIns="101600" tIns="203200" bIns="0" anchor="t"/>
          <a:lstStyle/>
          <a:p>
            <a:pPr algn="l"/>
            <a:r>
              <a:rPr sz="1200" b="1">
                <a:solidFill>
                  <a:srgbClr val="9FB3A7"/>
                </a:solidFill>
                <a:latin typeface="Inter"/>
              </a:rPr>
              <a:t>IRRIGATION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6400" y="2362200"/>
            <a:ext cx="1993900" cy="1485900"/>
          </a:xfrm>
          <a:prstGeom prst="rect">
            <a:avLst/>
          </a:prstGeom>
          <a:noFill/>
        </p:spPr>
        <p:txBody>
          <a:bodyPr wrap="square" lIns="203200" rIns="101600" tIns="546100" bIns="0" anchor="t"/>
          <a:lstStyle/>
          <a:p>
            <a:pPr algn="l"/>
            <a:r>
              <a:rPr sz="2200" b="1">
                <a:solidFill>
                  <a:srgbClr val="FCFCF7"/>
                </a:solidFill>
                <a:latin typeface="Inter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6400" y="4000500"/>
            <a:ext cx="1993900" cy="1574800"/>
          </a:xfrm>
          <a:prstGeom prst="rect">
            <a:avLst/>
          </a:prstGeom>
          <a:noFill/>
        </p:spPr>
        <p:txBody>
          <a:bodyPr wrap="square" lIns="203200" rIns="101600" tIns="190500" bIns="0" anchor="t"/>
          <a:lstStyle/>
          <a:p>
            <a:pPr algn="l"/>
            <a:r>
              <a:rPr sz="1200" b="1">
                <a:solidFill>
                  <a:srgbClr val="9FB3A7"/>
                </a:solidFill>
                <a:latin typeface="Inter"/>
              </a:rPr>
              <a:t>GREENHOUSE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6400" y="4000500"/>
            <a:ext cx="1993900" cy="1574800"/>
          </a:xfrm>
          <a:prstGeom prst="rect">
            <a:avLst/>
          </a:prstGeom>
          <a:noFill/>
        </p:spPr>
        <p:txBody>
          <a:bodyPr wrap="square" lIns="203200" rIns="101600" tIns="546100" bIns="0" anchor="t"/>
          <a:lstStyle/>
          <a:p>
            <a:pPr algn="l"/>
            <a:r>
              <a:rPr sz="2200" b="1">
                <a:solidFill>
                  <a:srgbClr val="D6EF8D"/>
                </a:solidFill>
                <a:latin typeface="Inter"/>
              </a:rPr>
              <a:t>Stable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27700" y="4787900"/>
            <a:ext cx="152400" cy="609600"/>
          </a:xfrm>
          <a:prstGeom prst="roundRect">
            <a:avLst>
              <a:gd name="adj" fmla="val 25000"/>
            </a:avLst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81700" y="4559300"/>
            <a:ext cx="152400" cy="838200"/>
          </a:xfrm>
          <a:prstGeom prst="roundRect">
            <a:avLst>
              <a:gd name="adj" fmla="val 25000"/>
            </a:avLst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35700" y="4635500"/>
            <a:ext cx="152400" cy="762000"/>
          </a:xfrm>
          <a:prstGeom prst="roundRect">
            <a:avLst>
              <a:gd name="adj" fmla="val 25000"/>
            </a:avLst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89700" y="4203700"/>
            <a:ext cx="152400" cy="1193800"/>
          </a:xfrm>
          <a:prstGeom prst="roundRect">
            <a:avLst>
              <a:gd name="adj" fmla="val 25000"/>
            </a:avLst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43700" y="4419600"/>
            <a:ext cx="152400" cy="977900"/>
          </a:xfrm>
          <a:prstGeom prst="roundRect">
            <a:avLst>
              <a:gd name="adj" fmla="val 25000"/>
            </a:avLst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97700" y="4114800"/>
            <a:ext cx="152400" cy="1282700"/>
          </a:xfrm>
          <a:prstGeom prst="roundRect">
            <a:avLst>
              <a:gd name="adj" fmla="val 25000"/>
            </a:avLst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51700" y="3949700"/>
            <a:ext cx="152400" cy="1447800"/>
          </a:xfrm>
          <a:prstGeom prst="roundRect">
            <a:avLst>
              <a:gd name="adj" fmla="val 25000"/>
            </a:avLst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05700" y="4279900"/>
            <a:ext cx="152400" cy="1117600"/>
          </a:xfrm>
          <a:prstGeom prst="roundRect">
            <a:avLst>
              <a:gd name="adj" fmla="val 25000"/>
            </a:avLst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59700" y="3848100"/>
            <a:ext cx="152400" cy="1549400"/>
          </a:xfrm>
          <a:prstGeom prst="roundRect">
            <a:avLst>
              <a:gd name="adj" fmla="val 25000"/>
            </a:avLst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13700" y="3784600"/>
            <a:ext cx="152400" cy="1612900"/>
          </a:xfrm>
          <a:prstGeom prst="roundRect">
            <a:avLst>
              <a:gd name="adj" fmla="val 25000"/>
            </a:avLst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67700" y="4076700"/>
            <a:ext cx="152400" cy="1320800"/>
          </a:xfrm>
          <a:prstGeom prst="roundRect">
            <a:avLst>
              <a:gd name="adj" fmla="val 25000"/>
            </a:avLst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521700" y="3657600"/>
            <a:ext cx="152400" cy="1739900"/>
          </a:xfrm>
          <a:prstGeom prst="roundRect">
            <a:avLst>
              <a:gd name="adj" fmla="val 25000"/>
            </a:avLst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8600" y="1422400"/>
            <a:ext cx="6223000" cy="4559300"/>
          </a:xfrm>
          <a:prstGeom prst="rect">
            <a:avLst/>
          </a:prstGeom>
          <a:noFill/>
        </p:spPr>
        <p:txBody>
          <a:bodyPr wrap="square" lIns="419100" rIns="2565400" tIns="4241800" bIns="0" anchor="t"/>
          <a:lstStyle/>
          <a:p>
            <a:pPr algn="l"/>
            <a:r>
              <a:rPr sz="1000" b="0">
                <a:solidFill>
                  <a:srgbClr val="9FB3A7"/>
                </a:solidFill>
                <a:latin typeface="Inter"/>
              </a:rPr>
              <a:t>ILLUSTRATIVE INTERFACE  /  NOT LIVE DATA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60400" y="6413500"/>
            <a:ext cx="10871200" cy="0"/>
          </a:xfrm>
          <a:prstGeom prst="line">
            <a:avLst/>
          </a:prstGeom>
          <a:ln w="12700">
            <a:solidFill>
              <a:srgbClr val="CCD7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60400" y="6477000"/>
            <a:ext cx="6350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2766C"/>
                </a:solidFill>
                <a:latin typeface="Inter"/>
              </a:rPr>
              <a:t>DESIGN STUDY  /  CONNECTED AGRICULTURE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77000"/>
            <a:ext cx="1054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2766C"/>
                </a:solidFill>
                <a:latin typeface="Inter"/>
              </a:rPr>
              <a:t>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bg>
      <p:bgPr>
        <a:solidFill>
          <a:srgbClr val="0A2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5000" y="5080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6300" y="444500"/>
            <a:ext cx="42545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FCFCF7"/>
                </a:solidFill>
                <a:latin typeface="Inter"/>
              </a:rPr>
              <a:t>FIELD /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10800" y="495300"/>
            <a:ext cx="1397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9FB3A7"/>
                </a:solidFill>
                <a:latin typeface="Inter"/>
              </a:rPr>
              <a:t>06  /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079500"/>
            <a:ext cx="8382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D6EF8D"/>
                </a:solidFill>
                <a:latin typeface="Inter"/>
              </a:rPr>
              <a:t>05  /  PRACTICAL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1841500"/>
            <a:ext cx="6096000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1">
                <a:solidFill>
                  <a:srgbClr val="FCFCF7"/>
                </a:solidFill>
                <a:latin typeface="Inter Display"/>
              </a:rPr>
              <a:t>Technology should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2578100"/>
            <a:ext cx="5969000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1">
                <a:solidFill>
                  <a:srgbClr val="D6EF8D"/>
                </a:solidFill>
                <a:latin typeface="Inter Display"/>
              </a:rPr>
              <a:t>fit the farmer.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49700"/>
            <a:ext cx="5207000" cy="142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>
                <a:solidFill>
                  <a:srgbClr val="E9EDE1"/>
                </a:solidFill>
                <a:latin typeface="Inter"/>
              </a:rPr>
              <a:t>Cooperatives can make advanced tools useful across many farms without expecting every farmer to buy a robot.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9309100" y="1562100"/>
            <a:ext cx="25400" cy="2019300"/>
          </a:xfrm>
          <a:prstGeom prst="line">
            <a:avLst/>
          </a:prstGeom>
          <a:ln w="25400">
            <a:solidFill>
              <a:srgbClr val="69A8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334500" y="2590800"/>
            <a:ext cx="1803400" cy="990600"/>
          </a:xfrm>
          <a:prstGeom prst="line">
            <a:avLst/>
          </a:prstGeom>
          <a:ln w="25400">
            <a:solidFill>
              <a:srgbClr val="69A8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334500" y="3581400"/>
            <a:ext cx="1714500" cy="1282700"/>
          </a:xfrm>
          <a:prstGeom prst="line">
            <a:avLst/>
          </a:prstGeom>
          <a:ln w="25400">
            <a:solidFill>
              <a:srgbClr val="69A8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848600" y="3581400"/>
            <a:ext cx="1485900" cy="1435100"/>
          </a:xfrm>
          <a:prstGeom prst="line">
            <a:avLst/>
          </a:prstGeom>
          <a:ln w="25400">
            <a:solidFill>
              <a:srgbClr val="69A8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7454900" y="2832100"/>
            <a:ext cx="1879600" cy="749300"/>
          </a:xfrm>
          <a:prstGeom prst="line">
            <a:avLst/>
          </a:prstGeom>
          <a:ln w="25400">
            <a:solidFill>
              <a:srgbClr val="69A8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343900" y="2590800"/>
            <a:ext cx="1981200" cy="1981200"/>
          </a:xfrm>
          <a:prstGeom prst="ellipse">
            <a:avLst/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58200" y="2705100"/>
            <a:ext cx="1752600" cy="1752600"/>
          </a:xfrm>
          <a:prstGeom prst="ellipse">
            <a:avLst/>
          </a:prstGeom>
          <a:solidFill>
            <a:srgbClr val="143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705100"/>
            <a:ext cx="1752600" cy="1752600"/>
          </a:xfrm>
          <a:prstGeom prst="rect">
            <a:avLst/>
          </a:prstGeom>
          <a:noFill/>
        </p:spPr>
        <p:txBody>
          <a:bodyPr wrap="square" lIns="0" rIns="0" tIns="613537" bIns="0" anchor="t"/>
          <a:lstStyle/>
          <a:p>
            <a:pPr algn="ctr"/>
            <a:r>
              <a:rPr sz="2800" b="1">
                <a:solidFill>
                  <a:srgbClr val="FCFCF7"/>
                </a:solidFill>
                <a:latin typeface="Inter Display"/>
              </a:rPr>
              <a:t>CO-OP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705100"/>
            <a:ext cx="1752600" cy="1752600"/>
          </a:xfrm>
          <a:prstGeom prst="rect">
            <a:avLst/>
          </a:prstGeom>
          <a:noFill/>
        </p:spPr>
        <p:txBody>
          <a:bodyPr wrap="square" lIns="0" rIns="0" tIns="1141857" bIns="0" anchor="t"/>
          <a:lstStyle/>
          <a:p>
            <a:pPr algn="ctr"/>
            <a:r>
              <a:rPr sz="1400" b="1">
                <a:solidFill>
                  <a:srgbClr val="D6EF8D"/>
                </a:solidFill>
                <a:latin typeface="Inter"/>
              </a:rPr>
              <a:t>SHARED HUB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59800" y="1276350"/>
            <a:ext cx="1498600" cy="571500"/>
          </a:xfrm>
          <a:prstGeom prst="roundRect">
            <a:avLst>
              <a:gd name="adj" fmla="val 22222"/>
            </a:avLst>
          </a:prstGeom>
          <a:solidFill>
            <a:srgbClr val="1A5444"/>
          </a:solidFill>
          <a:ln w="12700">
            <a:solidFill>
              <a:srgbClr val="69A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59800" y="1276350"/>
            <a:ext cx="1498600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>
                <a:solidFill>
                  <a:srgbClr val="FCFCF7"/>
                </a:solidFill>
                <a:latin typeface="Inter"/>
              </a:rPr>
              <a:t>SOFTWARE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88600" y="2305050"/>
            <a:ext cx="1498600" cy="571500"/>
          </a:xfrm>
          <a:prstGeom prst="roundRect">
            <a:avLst>
              <a:gd name="adj" fmla="val 22222"/>
            </a:avLst>
          </a:prstGeom>
          <a:solidFill>
            <a:srgbClr val="1A5444"/>
          </a:solidFill>
          <a:ln w="12700">
            <a:solidFill>
              <a:srgbClr val="69A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88600" y="2305050"/>
            <a:ext cx="1498600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>
                <a:solidFill>
                  <a:srgbClr val="FCFCF7"/>
                </a:solidFill>
                <a:latin typeface="Inter"/>
              </a:rPr>
              <a:t>SERVICE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99700" y="4578350"/>
            <a:ext cx="1498600" cy="571500"/>
          </a:xfrm>
          <a:prstGeom prst="roundRect">
            <a:avLst>
              <a:gd name="adj" fmla="val 22222"/>
            </a:avLst>
          </a:prstGeom>
          <a:solidFill>
            <a:srgbClr val="1A5444"/>
          </a:solidFill>
          <a:ln w="12700">
            <a:solidFill>
              <a:srgbClr val="69A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99700" y="4578350"/>
            <a:ext cx="1498600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>
                <a:solidFill>
                  <a:srgbClr val="FCFCF7"/>
                </a:solidFill>
                <a:latin typeface="Inter"/>
              </a:rPr>
              <a:t>TOOLS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99300" y="4730750"/>
            <a:ext cx="1498600" cy="571500"/>
          </a:xfrm>
          <a:prstGeom prst="roundRect">
            <a:avLst>
              <a:gd name="adj" fmla="val 22222"/>
            </a:avLst>
          </a:prstGeom>
          <a:solidFill>
            <a:srgbClr val="1A5444"/>
          </a:solidFill>
          <a:ln w="12700">
            <a:solidFill>
              <a:srgbClr val="69A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99300" y="4730750"/>
            <a:ext cx="1498600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>
                <a:solidFill>
                  <a:srgbClr val="FCFCF7"/>
                </a:solidFill>
                <a:latin typeface="Inter"/>
              </a:rPr>
              <a:t>FIELD 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5600" y="2546350"/>
            <a:ext cx="1498600" cy="571500"/>
          </a:xfrm>
          <a:prstGeom prst="roundRect">
            <a:avLst>
              <a:gd name="adj" fmla="val 22222"/>
            </a:avLst>
          </a:prstGeom>
          <a:solidFill>
            <a:srgbClr val="1A5444"/>
          </a:solidFill>
          <a:ln w="12700">
            <a:solidFill>
              <a:srgbClr val="69A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5600" y="2546350"/>
            <a:ext cx="1498600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>
                <a:solidFill>
                  <a:srgbClr val="FCFCF7"/>
                </a:solidFill>
                <a:latin typeface="Inter"/>
              </a:rPr>
              <a:t>FIELD 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0400" y="6413500"/>
            <a:ext cx="10871200" cy="0"/>
          </a:xfrm>
          <a:prstGeom prst="line">
            <a:avLst/>
          </a:prstGeom>
          <a:ln w="12700">
            <a:solidFill>
              <a:srgbClr val="143B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60400" y="6477000"/>
            <a:ext cx="6350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FB3A7"/>
                </a:solidFill>
                <a:latin typeface="Inter"/>
              </a:rPr>
              <a:t>DESIGN STUDY  /  CONNECTED AGRICULTURE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77000"/>
            <a:ext cx="1054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FB3A7"/>
                </a:solidFill>
                <a:latin typeface="Inter"/>
              </a:rPr>
              <a:t>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bg>
      <p:bgPr>
        <a:solidFill>
          <a:srgbClr val="F7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5000" y="5080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6300" y="444500"/>
            <a:ext cx="42545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A211D"/>
                </a:solidFill>
                <a:latin typeface="Inter"/>
              </a:rPr>
              <a:t>FIELD /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10800" y="495300"/>
            <a:ext cx="1397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62766C"/>
                </a:solidFill>
                <a:latin typeface="Inter"/>
              </a:rPr>
              <a:t>07  /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079500"/>
            <a:ext cx="8382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347A60"/>
                </a:solidFill>
                <a:latin typeface="Inter"/>
              </a:rPr>
              <a:t>06  /  ADOPTION PATHWAY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1549400"/>
            <a:ext cx="10858500" cy="78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200" b="1">
                <a:solidFill>
                  <a:srgbClr val="0A211D"/>
                </a:solidFill>
                <a:latin typeface="Inter Display"/>
              </a:rPr>
              <a:t>One platform. Many entry 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51100"/>
            <a:ext cx="10858500" cy="43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100" b="0">
                <a:solidFill>
                  <a:srgbClr val="62766C"/>
                </a:solidFill>
                <a:latin typeface="Inter"/>
              </a:rPr>
              <a:t>Start with a useful tool. Add complexity only when it pays off.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0400" y="3505200"/>
            <a:ext cx="3390900" cy="2451100"/>
          </a:xfrm>
          <a:prstGeom prst="roundRect">
            <a:avLst>
              <a:gd name="adj" fmla="val 8290"/>
            </a:avLst>
          </a:prstGeom>
          <a:solidFill>
            <a:srgbClr val="FCFCF7"/>
          </a:solidFill>
          <a:ln w="12700">
            <a:solidFill>
              <a:srgbClr val="CCD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400" y="3505200"/>
            <a:ext cx="3390900" cy="2451100"/>
          </a:xfrm>
          <a:prstGeom prst="rect">
            <a:avLst/>
          </a:prstGeom>
          <a:noFill/>
        </p:spPr>
        <p:txBody>
          <a:bodyPr wrap="square" lIns="228600" rIns="152400" tIns="406400" bIns="0" anchor="t"/>
          <a:lstStyle/>
          <a:p>
            <a:pPr algn="l"/>
            <a:r>
              <a:rPr sz="4300" b="1">
                <a:solidFill>
                  <a:srgbClr val="347A60"/>
                </a:solidFill>
                <a:latin typeface="Inter Display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3505200"/>
            <a:ext cx="3390900" cy="2451100"/>
          </a:xfrm>
          <a:prstGeom prst="rect">
            <a:avLst/>
          </a:prstGeom>
          <a:noFill/>
        </p:spPr>
        <p:txBody>
          <a:bodyPr wrap="square" lIns="228600" rIns="101600" tIns="1143000" bIns="0" anchor="t"/>
          <a:lstStyle/>
          <a:p>
            <a:pPr algn="l"/>
            <a:r>
              <a:rPr sz="1900" b="1">
                <a:solidFill>
                  <a:srgbClr val="0A211D"/>
                </a:solidFill>
                <a:latin typeface="Inter"/>
              </a:rPr>
              <a:t>SOFTWARE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3505200"/>
            <a:ext cx="3390900" cy="2451100"/>
          </a:xfrm>
          <a:prstGeom prst="rect">
            <a:avLst/>
          </a:prstGeom>
          <a:noFill/>
        </p:spPr>
        <p:txBody>
          <a:bodyPr wrap="square" lIns="228600" rIns="101600" tIns="1993900" bIns="0" anchor="t"/>
          <a:lstStyle/>
          <a:p>
            <a:pPr algn="l"/>
            <a:r>
              <a:rPr sz="1800" b="0">
                <a:solidFill>
                  <a:srgbClr val="62766C"/>
                </a:solidFill>
                <a:latin typeface="Inter"/>
              </a:rPr>
              <a:t>Visibility and workflows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4200" y="3505200"/>
            <a:ext cx="3390900" cy="2451100"/>
          </a:xfrm>
          <a:prstGeom prst="roundRect">
            <a:avLst>
              <a:gd name="adj" fmla="val 8290"/>
            </a:avLst>
          </a:prstGeom>
          <a:solidFill>
            <a:srgbClr val="FCFCF7"/>
          </a:solidFill>
          <a:ln w="12700">
            <a:solidFill>
              <a:srgbClr val="CCD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4200" y="3505200"/>
            <a:ext cx="3390900" cy="2451100"/>
          </a:xfrm>
          <a:prstGeom prst="rect">
            <a:avLst/>
          </a:prstGeom>
          <a:noFill/>
        </p:spPr>
        <p:txBody>
          <a:bodyPr wrap="square" lIns="228600" rIns="152400" tIns="406400" bIns="0" anchor="t"/>
          <a:lstStyle/>
          <a:p>
            <a:pPr algn="l"/>
            <a:r>
              <a:rPr sz="4300" b="1">
                <a:solidFill>
                  <a:srgbClr val="1A5444"/>
                </a:solidFill>
                <a:latin typeface="Inter Display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4200" y="3505200"/>
            <a:ext cx="3390900" cy="2451100"/>
          </a:xfrm>
          <a:prstGeom prst="rect">
            <a:avLst/>
          </a:prstGeom>
          <a:noFill/>
        </p:spPr>
        <p:txBody>
          <a:bodyPr wrap="square" lIns="228600" rIns="101600" tIns="1143000" bIns="0" anchor="t"/>
          <a:lstStyle/>
          <a:p>
            <a:pPr algn="l"/>
            <a:r>
              <a:rPr sz="1900" b="1">
                <a:solidFill>
                  <a:srgbClr val="0A211D"/>
                </a:solidFill>
                <a:latin typeface="Inter"/>
              </a:rPr>
              <a:t>AUTOMATION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4200" y="3505200"/>
            <a:ext cx="3390900" cy="2451100"/>
          </a:xfrm>
          <a:prstGeom prst="rect">
            <a:avLst/>
          </a:prstGeom>
          <a:noFill/>
        </p:spPr>
        <p:txBody>
          <a:bodyPr wrap="square" lIns="228600" rIns="101600" tIns="1993900" bIns="0" anchor="t"/>
          <a:lstStyle/>
          <a:p>
            <a:pPr algn="l"/>
            <a:r>
              <a:rPr sz="1800" b="0">
                <a:solidFill>
                  <a:srgbClr val="62766C"/>
                </a:solidFill>
                <a:latin typeface="Inter"/>
              </a:rPr>
              <a:t>Sensors and controls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0" y="3505200"/>
            <a:ext cx="3390900" cy="2451100"/>
          </a:xfrm>
          <a:prstGeom prst="roundRect">
            <a:avLst>
              <a:gd name="adj" fmla="val 8290"/>
            </a:avLst>
          </a:prstGeom>
          <a:solidFill>
            <a:srgbClr val="FCFCF7"/>
          </a:solidFill>
          <a:ln w="12700">
            <a:solidFill>
              <a:srgbClr val="CCD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8000" y="3505200"/>
            <a:ext cx="3390900" cy="2451100"/>
          </a:xfrm>
          <a:prstGeom prst="rect">
            <a:avLst/>
          </a:prstGeom>
          <a:noFill/>
        </p:spPr>
        <p:txBody>
          <a:bodyPr wrap="square" lIns="228600" rIns="152400" tIns="406400" bIns="0" anchor="t"/>
          <a:lstStyle/>
          <a:p>
            <a:pPr algn="l"/>
            <a:r>
              <a:rPr sz="4300" b="1">
                <a:solidFill>
                  <a:srgbClr val="F0A36D"/>
                </a:solidFill>
                <a:latin typeface="Inter Display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0" y="3505200"/>
            <a:ext cx="3390900" cy="2451100"/>
          </a:xfrm>
          <a:prstGeom prst="rect">
            <a:avLst/>
          </a:prstGeom>
          <a:noFill/>
        </p:spPr>
        <p:txBody>
          <a:bodyPr wrap="square" lIns="228600" rIns="101600" tIns="1143000" bIns="0" anchor="t"/>
          <a:lstStyle/>
          <a:p>
            <a:pPr algn="l"/>
            <a:r>
              <a:rPr sz="1900" b="1">
                <a:solidFill>
                  <a:srgbClr val="0A211D"/>
                </a:solidFill>
                <a:latin typeface="Inter"/>
              </a:rPr>
              <a:t>ROBOTICS WHEN 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0" y="3505200"/>
            <a:ext cx="3390900" cy="2451100"/>
          </a:xfrm>
          <a:prstGeom prst="rect">
            <a:avLst/>
          </a:prstGeom>
          <a:noFill/>
        </p:spPr>
        <p:txBody>
          <a:bodyPr wrap="square" lIns="228600" rIns="101600" tIns="1993900" bIns="0" anchor="t"/>
          <a:lstStyle/>
          <a:p>
            <a:pPr algn="l"/>
            <a:r>
              <a:rPr sz="1800" b="0">
                <a:solidFill>
                  <a:srgbClr val="62766C"/>
                </a:solidFill>
                <a:latin typeface="Inter"/>
              </a:rPr>
              <a:t>Autonomous operations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0400" y="3505200"/>
            <a:ext cx="3390900" cy="127000"/>
          </a:xfrm>
          <a:prstGeom prst="roundRect">
            <a:avLst>
              <a:gd name="adj" fmla="val 50000"/>
            </a:avLst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94200" y="3505200"/>
            <a:ext cx="3390900" cy="127000"/>
          </a:xfrm>
          <a:prstGeom prst="roundRect">
            <a:avLst>
              <a:gd name="adj" fmla="val 50000"/>
            </a:avLst>
          </a:prstGeom>
          <a:solidFill>
            <a:srgbClr val="1A5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28000" y="3505200"/>
            <a:ext cx="3390900" cy="127000"/>
          </a:xfrm>
          <a:prstGeom prst="roundRect">
            <a:avLst>
              <a:gd name="adj" fmla="val 50000"/>
            </a:avLst>
          </a:prstGeom>
          <a:solidFill>
            <a:srgbClr val="F0A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60400" y="6413500"/>
            <a:ext cx="10871200" cy="0"/>
          </a:xfrm>
          <a:prstGeom prst="line">
            <a:avLst/>
          </a:prstGeom>
          <a:ln w="12700">
            <a:solidFill>
              <a:srgbClr val="CCD7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0400" y="6477000"/>
            <a:ext cx="6350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2766C"/>
                </a:solidFill>
                <a:latin typeface="Inter"/>
              </a:rPr>
              <a:t>DESIGN STUDY  /  CONNECTED AGRICULTURE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77000"/>
            <a:ext cx="10541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62766C"/>
                </a:solidFill>
                <a:latin typeface="Inter"/>
              </a:rPr>
              <a:t>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bg>
      <p:bgPr>
        <a:solidFill>
          <a:srgbClr val="0A21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143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0760000">
            <a:off x="8064500" y="889000"/>
            <a:ext cx="3556000" cy="685800"/>
          </a:xfrm>
          <a:prstGeom prst="roundRect">
            <a:avLst>
              <a:gd name="adj" fmla="val 29629"/>
            </a:avLst>
          </a:prstGeom>
          <a:solidFill>
            <a:srgbClr val="1A5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0760000">
            <a:off x="7937500" y="1828800"/>
            <a:ext cx="3860800" cy="685800"/>
          </a:xfrm>
          <a:prstGeom prst="roundRect">
            <a:avLst>
              <a:gd name="adj" fmla="val 29629"/>
            </a:avLst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0760000">
            <a:off x="7810500" y="2819400"/>
            <a:ext cx="3746500" cy="685800"/>
          </a:xfrm>
          <a:prstGeom prst="roundRect">
            <a:avLst>
              <a:gd name="adj" fmla="val 29629"/>
            </a:avLst>
          </a:prstGeom>
          <a:solidFill>
            <a:srgbClr val="69A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20760000">
            <a:off x="7683500" y="3848100"/>
            <a:ext cx="4064000" cy="685800"/>
          </a:xfrm>
          <a:prstGeom prst="roundRect">
            <a:avLst>
              <a:gd name="adj" fmla="val 29629"/>
            </a:avLst>
          </a:prstGeom>
          <a:solidFill>
            <a:srgbClr val="1A5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 rot="20760000">
            <a:off x="7556500" y="4914900"/>
            <a:ext cx="4064000" cy="685800"/>
          </a:xfrm>
          <a:prstGeom prst="roundRect">
            <a:avLst>
              <a:gd name="adj" fmla="val 29629"/>
            </a:avLst>
          </a:prstGeom>
          <a:solidFill>
            <a:srgbClr val="34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66100" y="2019300"/>
            <a:ext cx="2921000" cy="2921000"/>
          </a:xfrm>
          <a:prstGeom prst="ellipse">
            <a:avLst/>
          </a:prstGeom>
          <a:noFill/>
          <a:ln w="22860">
            <a:solidFill>
              <a:srgbClr val="D6EF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61400" y="2514600"/>
            <a:ext cx="1930400" cy="1930400"/>
          </a:xfrm>
          <a:prstGeom prst="ellipse">
            <a:avLst/>
          </a:prstGeom>
          <a:noFill/>
          <a:ln w="22860">
            <a:solidFill>
              <a:srgbClr val="BDD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2997200"/>
            <a:ext cx="965200" cy="965200"/>
          </a:xfrm>
          <a:prstGeom prst="ellipse">
            <a:avLst/>
          </a:prstGeom>
          <a:noFill/>
          <a:ln w="22860">
            <a:solidFill>
              <a:srgbClr val="9FB3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0400" y="571500"/>
            <a:ext cx="127000" cy="127000"/>
          </a:xfrm>
          <a:prstGeom prst="roundRect">
            <a:avLst>
              <a:gd name="adj" fmla="val 20000"/>
            </a:avLst>
          </a:prstGeom>
          <a:solidFill>
            <a:srgbClr val="D6EF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8000"/>
            <a:ext cx="4318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FCFCF7"/>
                </a:solidFill>
                <a:latin typeface="Inter"/>
              </a:rPr>
              <a:t>FIELD / FORWARD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00" y="1841500"/>
            <a:ext cx="7366000" cy="111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 b="1">
                <a:solidFill>
                  <a:srgbClr val="FCFCF7"/>
                </a:solidFill>
                <a:latin typeface="Inter Display"/>
              </a:rPr>
              <a:t>The next field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" y="2895600"/>
            <a:ext cx="7048500" cy="1181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500" b="1">
                <a:solidFill>
                  <a:srgbClr val="D6EF8D"/>
                </a:solidFill>
                <a:latin typeface="Inter Display"/>
              </a:rPr>
              <a:t>starts here.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8500" y="4546600"/>
            <a:ext cx="736600" cy="63500"/>
          </a:xfrm>
          <a:prstGeom prst="roundRect">
            <a:avLst>
              <a:gd name="adj" fmla="val 20000"/>
            </a:avLst>
          </a:prstGeom>
          <a:solidFill>
            <a:srgbClr val="F0A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041900"/>
            <a:ext cx="6731000" cy="812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>
                <a:solidFill>
                  <a:srgbClr val="E9EDE1"/>
                </a:solidFill>
                <a:latin typeface="Inter"/>
              </a:rPr>
              <a:t>Prototype thoughtfully. Learn in the field. Scale what works.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" y="6413500"/>
            <a:ext cx="6985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FB3A7"/>
                </a:solidFill>
                <a:latin typeface="Inter"/>
              </a:rPr>
              <a:t>A TYPOGRAPHICALLY EDITABLE TYPST + PPTX DESIGN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79100" y="64135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D6EF8D"/>
                </a:solidFill>
                <a:latin typeface="Inter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